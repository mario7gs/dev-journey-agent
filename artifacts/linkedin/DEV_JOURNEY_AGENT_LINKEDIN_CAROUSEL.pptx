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33e8c0a07b4146" /><Relationship Type="http://schemas.openxmlformats.org/officeDocument/2006/relationships/extended-properties" Target="/docProps/app.xml" Id="Rbed73608d57d4e9e" /><Relationship Type="http://schemas.openxmlformats.org/officeDocument/2006/relationships/officeDocument" Target="/ppt/presentation.xml" Id="R45896d8d8ce441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bbc3209ec4ebc"/>
  </p:sldMasterIdLst>
  <p:notesMasterIdLst>
    <p:notesMasterId xmlns:r="http://schemas.openxmlformats.org/officeDocument/2006/relationships" r:id="Rcb45ac869574455a"/>
  </p:notesMasterIdLst>
  <p:sldIdLst>
    <p:sldId xmlns:r="http://schemas.openxmlformats.org/officeDocument/2006/relationships" id="256" r:id="R0c1023ed65a14c4e"/>
    <p:sldId xmlns:r="http://schemas.openxmlformats.org/officeDocument/2006/relationships" id="257" r:id="Rd00014dbaf40424c"/>
    <p:sldId xmlns:r="http://schemas.openxmlformats.org/officeDocument/2006/relationships" id="258" r:id="R9b58ab41b3664fc0"/>
    <p:sldId xmlns:r="http://schemas.openxmlformats.org/officeDocument/2006/relationships" id="259" r:id="Rf94ef1a6652c4ae4"/>
    <p:sldId xmlns:r="http://schemas.openxmlformats.org/officeDocument/2006/relationships" id="260" r:id="Rc695e890557e40ac"/>
    <p:sldId xmlns:r="http://schemas.openxmlformats.org/officeDocument/2006/relationships" id="261" r:id="Rb80d57f52e394810"/>
    <p:sldId xmlns:r="http://schemas.openxmlformats.org/officeDocument/2006/relationships" id="262" r:id="R4600d0857ddc43b7"/>
    <p:sldId xmlns:r="http://schemas.openxmlformats.org/officeDocument/2006/relationships" id="263" r:id="R2829c6f0fdec493b"/>
  </p:sldIdLst>
  <p:sldSz cx="10287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6b245971714c22" /><Relationship Type="http://schemas.openxmlformats.org/officeDocument/2006/relationships/slideMaster" Target="/ppt/slideMasters/slideMaster1.xml" Id="Rf9bbbc3209ec4ebc" /><Relationship Type="http://schemas.openxmlformats.org/officeDocument/2006/relationships/notesMaster" Target="/ppt/notesMasters/notesMaster1.xml" Id="Rcb45ac869574455a" /><Relationship Type="http://schemas.openxmlformats.org/officeDocument/2006/relationships/presProps" Target="/ppt/presProps.xml" Id="R339c21bba89c4bd8" /><Relationship Type="http://schemas.openxmlformats.org/officeDocument/2006/relationships/tableStyles" Target="/ppt/tableStyles.xml" Id="Re18b9540aa7a4144" /><Relationship Type="http://schemas.openxmlformats.org/officeDocument/2006/relationships/slide" Target="/ppt/slides/slide1.xml" Id="R0c1023ed65a14c4e" /><Relationship Type="http://schemas.openxmlformats.org/officeDocument/2006/relationships/slide" Target="/ppt/slides/slide2.xml" Id="Rd00014dbaf40424c" /><Relationship Type="http://schemas.openxmlformats.org/officeDocument/2006/relationships/slide" Target="/ppt/slides/slide3.xml" Id="R9b58ab41b3664fc0" /><Relationship Type="http://schemas.openxmlformats.org/officeDocument/2006/relationships/slide" Target="/ppt/slides/slide4.xml" Id="Rf94ef1a6652c4ae4" /><Relationship Type="http://schemas.openxmlformats.org/officeDocument/2006/relationships/slide" Target="/ppt/slides/slide5.xml" Id="Rc695e890557e40ac" /><Relationship Type="http://schemas.openxmlformats.org/officeDocument/2006/relationships/slide" Target="/ppt/slides/slide6.xml" Id="Rb80d57f52e394810" /><Relationship Type="http://schemas.openxmlformats.org/officeDocument/2006/relationships/slide" Target="/ppt/slides/slide7.xml" Id="R4600d0857ddc43b7" /><Relationship Type="http://schemas.openxmlformats.org/officeDocument/2006/relationships/slide" Target="/ppt/slides/slide8.xml" Id="R2829c6f0fdec49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50e55024fc49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8843de95bd44d0" /><Relationship Type="http://schemas.openxmlformats.org/officeDocument/2006/relationships/notesMaster" Target="/ppt/notesMasters/notesMaster1.xml" Id="Rca93a8bb2bba48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4cb93de0bf47cc" /><Relationship Type="http://schemas.openxmlformats.org/officeDocument/2006/relationships/notesMaster" Target="/ppt/notesMasters/notesMaster1.xml" Id="Rcb15276001924a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157cc4f9e54de3" /><Relationship Type="http://schemas.openxmlformats.org/officeDocument/2006/relationships/notesMaster" Target="/ppt/notesMasters/notesMaster1.xml" Id="R5c7b4be9e27b40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ae7f0b82f545ae" /><Relationship Type="http://schemas.openxmlformats.org/officeDocument/2006/relationships/notesMaster" Target="/ppt/notesMasters/notesMaster1.xml" Id="R6e1f010254e840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f2f82bc1094931" /><Relationship Type="http://schemas.openxmlformats.org/officeDocument/2006/relationships/notesMaster" Target="/ppt/notesMasters/notesMaster1.xml" Id="Rfcac9d7e25524c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3d100335864212" /><Relationship Type="http://schemas.openxmlformats.org/officeDocument/2006/relationships/notesMaster" Target="/ppt/notesMasters/notesMaster1.xml" Id="Ra15b0fe14a554b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62b487f23d437e" /><Relationship Type="http://schemas.openxmlformats.org/officeDocument/2006/relationships/notesMaster" Target="/ppt/notesMasters/notesMaster1.xml" Id="R5e616700b1864d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b859d3ef94443b" /><Relationship Type="http://schemas.openxmlformats.org/officeDocument/2006/relationships/notesMaster" Target="/ppt/notesMasters/notesMaster1.xml" Id="Rcc6c4c6e6b504c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docs/BRAND_GUIDELINES.md and docs/PORTFOLIO_PUBLICATION_KIT.md. Purpose: state the project premise without claiming autonomous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docs/MVP/REAL_TEST_CASE_REPORT.md and docs/PORTFOLIO_PUBLICATION_KIT.md. The health-check ticket is a documented validation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README.md, docs/MVP/PORTFOLIO_HANDOFF.md, and docs/PORTFOLIO_PUBLICATION_KIT.md. This slide describes the implemented planning workflow, not automated coding or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 and generated run checkpoints documented in docs/MVP/REAL_TEST_CASE_REPORT.md. Stage names reflect the pipeline checkpoints retained by the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docs/MVP/REAL_TEST_CASE_REPORT.md. The approved and needs-input outcomes are both demonstrated by the documented validation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docs/MVP/REAL_TEST_CASE_REPORT.md, docs/MVP/PORTFOLIO_HANDOFF.md, and generated artifact paths described in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docs/MVP/REAL_TEST_CASE_REPORT.md. Claims are limited to documented test outcomes: approved real-repository run (exit 0) and credential-free needs-input case (exit 2). Release gate evidence is recorded in docs/MVP/PORTFOLIO_HANDOFF.md.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docs/MVP/PORTFOLIO_HANDOFF.md and docs/PORTFOLIO_PUBLICATION_KIT.md. This scope statement preserves the project's documented boundaries and deferrals.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66dc00458467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a1320afede4b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9e85a60bab44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70c1a7fda541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e765531d2e4e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3d5e84dccf41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592341-832F-476C-977C-7F6CD6D543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3886200"/>
            <a:ext cx="8229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B50AEBB-64EB-4E7C-8945-BF04DC787F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43050" y="5657850"/>
            <a:ext cx="7200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0D10176-5C8D-426E-8981-1ECE256649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4286250"/>
            <a:ext cx="82296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93A166-19F8-4446-92B1-5AA6A8A73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8644" y="800100"/>
            <a:ext cx="9129713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29B64EF-0AC0-4615-AB19-E9C03C3A36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78644" y="2857500"/>
            <a:ext cx="9129713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00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072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644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215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787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359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931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502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FE7E332-CAF4-4EEA-B940-320113F3BE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8644" y="800100"/>
            <a:ext cx="9129713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35153B3-6AC1-4E37-A954-98342EA3D4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78644" y="2857500"/>
            <a:ext cx="4243388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00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072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644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215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787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359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931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502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5239237-3F8F-47F2-8136-DD5D525CC3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464969" y="2857500"/>
            <a:ext cx="4243388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00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072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644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215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787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359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931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502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1A75FF-2C8F-4BE9-8C9A-A898A1E531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8644" y="800100"/>
            <a:ext cx="9129713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F581D0C-0327-4269-A817-1415D36D7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78644" y="2857500"/>
            <a:ext cx="4243388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00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072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644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215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7875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3593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93106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50281" indent="-192881" algn="l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d49dcb01684783" /><Relationship Type="http://schemas.openxmlformats.org/officeDocument/2006/relationships/slideLayout" Target="/ppt/slideLayouts/slideLayout1.xml" Id="Rf7d69677c0594f59" /><Relationship Type="http://schemas.openxmlformats.org/officeDocument/2006/relationships/slideLayout" Target="/ppt/slideLayouts/slideLayout2.xml" Id="Rdfb181c62e7f4a3e" /><Relationship Type="http://schemas.openxmlformats.org/officeDocument/2006/relationships/slideLayout" Target="/ppt/slideLayouts/slideLayout3.xml" Id="Rfe799a5f1ce14a18" /><Relationship Type="http://schemas.openxmlformats.org/officeDocument/2006/relationships/slideLayout" Target="/ppt/slideLayouts/slideLayout4.xml" Id="R990e0720dc51455d" /><Relationship Type="http://schemas.openxmlformats.org/officeDocument/2006/relationships/slideLayout" Target="/ppt/slideLayouts/slideLayout5.xml" Id="R47eb5d777df64bfa" /><Relationship Type="http://schemas.openxmlformats.org/officeDocument/2006/relationships/slideLayout" Target="/ppt/slideLayouts/slideLayout6.xml" Id="Rf9fbb23829d045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d69677c0594f59"/>
    <p:sldLayoutId xmlns:r="http://schemas.openxmlformats.org/officeDocument/2006/relationships" id="2147483650" r:id="Rdfb181c62e7f4a3e"/>
    <p:sldLayoutId xmlns:r="http://schemas.openxmlformats.org/officeDocument/2006/relationships" id="2147483651" r:id="Rfe799a5f1ce14a18"/>
    <p:sldLayoutId xmlns:r="http://schemas.openxmlformats.org/officeDocument/2006/relationships" id="2147483652" r:id="R990e0720dc51455d"/>
    <p:sldLayoutId xmlns:r="http://schemas.openxmlformats.org/officeDocument/2006/relationships" id="2147483653" r:id="R47eb5d777df64bfa"/>
    <p:sldLayoutId xmlns:r="http://schemas.openxmlformats.org/officeDocument/2006/relationships" id="2147483654" r:id="Rf9fbb23829d045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163eb2cb2242ac" /><Relationship Type="http://schemas.openxmlformats.org/officeDocument/2006/relationships/image" Target="/ppt/media/image.png" Id="R9985f8d023e442b9" /><Relationship Type="http://schemas.openxmlformats.org/officeDocument/2006/relationships/notesSlide" Target="/ppt/notesSlides/notesSlide1.xml" Id="R8e4202ec8db140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868a6bfa1d40c1" /><Relationship Type="http://schemas.openxmlformats.org/officeDocument/2006/relationships/image" Target="/ppt/media/image2.png" Id="Rfbbbebe7e3d84cc3" /><Relationship Type="http://schemas.openxmlformats.org/officeDocument/2006/relationships/notesSlide" Target="/ppt/notesSlides/notesSlide2.xml" Id="R07c80d4ff40347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7532bdc24b467f" /><Relationship Type="http://schemas.openxmlformats.org/officeDocument/2006/relationships/image" Target="/ppt/media/image3.png" Id="R12b968d460cd4f6d" /><Relationship Type="http://schemas.openxmlformats.org/officeDocument/2006/relationships/notesSlide" Target="/ppt/notesSlides/notesSlide3.xml" Id="Rc84839d8c5ec42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3de30834d04094" /><Relationship Type="http://schemas.openxmlformats.org/officeDocument/2006/relationships/image" Target="/ppt/media/image4.png" Id="Rce30097a9af7444e" /><Relationship Type="http://schemas.openxmlformats.org/officeDocument/2006/relationships/notesSlide" Target="/ppt/notesSlides/notesSlide4.xml" Id="Rf08f71185bce4d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8452bde9e54480" /><Relationship Type="http://schemas.openxmlformats.org/officeDocument/2006/relationships/image" Target="/ppt/media/image5.png" Id="Rd1aa5d6caf844bc4" /><Relationship Type="http://schemas.openxmlformats.org/officeDocument/2006/relationships/notesSlide" Target="/ppt/notesSlides/notesSlide5.xml" Id="R46a0e813b87543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bb335317784f95" /><Relationship Type="http://schemas.openxmlformats.org/officeDocument/2006/relationships/image" Target="/ppt/media/image6.png" Id="Rc65536d175e34831" /><Relationship Type="http://schemas.openxmlformats.org/officeDocument/2006/relationships/notesSlide" Target="/ppt/notesSlides/notesSlide6.xml" Id="R4501365b9bd240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766121e2454132" /><Relationship Type="http://schemas.openxmlformats.org/officeDocument/2006/relationships/image" Target="/ppt/media/image7.png" Id="Rf7a6124c5f7b4dc7" /><Relationship Type="http://schemas.openxmlformats.org/officeDocument/2006/relationships/notesSlide" Target="/ppt/notesSlides/notesSlide7.xml" Id="Rb47d6da1da574c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1876a306ae4b86" /><Relationship Type="http://schemas.openxmlformats.org/officeDocument/2006/relationships/image" Target="/ppt/media/image8.png" Id="R9c176840f8444dd4" /><Relationship Type="http://schemas.openxmlformats.org/officeDocument/2006/relationships/notesSlide" Target="/ppt/notesSlides/notesSlide8.xml" Id="R28d1e10bfdeb4e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indigo-field">
            <a:extLst xmlns:a="http://schemas.openxmlformats.org/drawingml/2006/main">
              <a:ext uri="{FF2B5EF4-FFF2-40B4-BE49-F238E27FC236}">
                <a16:creationId xmlns:a16="http://schemas.microsoft.com/office/drawing/2014/main" id="{0908C640-C232-4FBD-BEC6-4ABD9579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0"/>
            <a:ext cx="363855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teal-field">
            <a:extLst xmlns:a="http://schemas.openxmlformats.org/drawingml/2006/main">
              <a:ext uri="{FF2B5EF4-FFF2-40B4-BE49-F238E27FC236}">
                <a16:creationId xmlns:a16="http://schemas.microsoft.com/office/drawing/2014/main" id="{DA594A37-DB28-4D27-8A40-62B65B91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0"/>
            <a:ext cx="150495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gold-line">
            <a:extLst xmlns:a="http://schemas.openxmlformats.org/drawingml/2006/main">
              <a:ext uri="{FF2B5EF4-FFF2-40B4-BE49-F238E27FC236}">
                <a16:creationId xmlns:a16="http://schemas.microsoft.com/office/drawing/2014/main" id="{D39E19F3-45C2-4EC4-AA00-B91D4F29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09825"/>
            <a:ext cx="2057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CE2C4-CFDD-4D9D-B800-72BE726799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5f8d023e442b9"/>
          <a:stretch xmlns:a="http://schemas.openxmlformats.org/drawingml/2006/main"/>
        </p:blipFill>
        <p:spPr>
          <a:xfrm xmlns:a="http://schemas.openxmlformats.org/drawingml/2006/main">
            <a:off x="7239000" y="1962150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5" name="cover-brand">
            <a:extLst xmlns:a="http://schemas.openxmlformats.org/drawingml/2006/main">
              <a:ext uri="{FF2B5EF4-FFF2-40B4-BE49-F238E27FC236}">
                <a16:creationId xmlns:a16="http://schemas.microsoft.com/office/drawing/2014/main" id="{D8B76C00-3BDF-4185-A112-DE12E774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203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8E59E9C-629C-4683-B19C-022854EF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0125"/>
            <a:ext cx="3143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991504A-C234-479C-9406-F434C350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0"/>
            <a:ext cx="581025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96000"/>
              </a:lnSpc>
              <a:buNone/>
              <a:def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45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 feature request is not an implementation plan.</a:t>
            </a:r>
          </a:p>
        </p:txBody>
      </p:sp>
      <p:sp>
        <p:nvSpPr>
          <p:cNvPr id="8" name="cover-copy">
            <a:extLst xmlns:a="http://schemas.openxmlformats.org/drawingml/2006/main">
              <a:ext uri="{FF2B5EF4-FFF2-40B4-BE49-F238E27FC236}">
                <a16:creationId xmlns:a16="http://schemas.microsoft.com/office/drawing/2014/main" id="{072749FE-2DD3-4392-98A2-D127FB8D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43625"/>
            <a:ext cx="5295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DCE6F3"/>
                </a:solidFill>
                <a:latin typeface="Noto Sans"/>
                <a:ea typeface="Noto Sans"/>
                <a:cs typeface="Noto Sans"/>
              </a:rPr>
              <a:t>Dev Journey Agent makes the decisions between the two visible, reviewable, and testable before code changes begin.</a:t>
            </a:r>
          </a:p>
        </p:txBody>
      </p:sp>
      <p:sp>
        <p:nvSpPr>
          <p:cNvPr id="9" name="cover-meta">
            <a:extLst xmlns:a="http://schemas.openxmlformats.org/drawingml/2006/main">
              <a:ext uri="{FF2B5EF4-FFF2-40B4-BE49-F238E27FC236}">
                <a16:creationId xmlns:a16="http://schemas.microsoft.com/office/drawing/2014/main" id="{F8BC875B-6CA8-4748-B92F-A4E55ABF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191500"/>
            <a:ext cx="546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FFFFFF">
                    <a:alpha val="68235"/>
                  </a:srgbClr>
                </a:solidFill>
                <a:latin typeface="Noto Sans"/>
                <a:ea typeface="Noto Sans"/>
                <a:cs typeface="Noto Sans"/>
              </a:rPr>
              <a:t>A portfolio case study about reducing the gap between what is asked and what a team understands to build.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CC1C61-96BF-4385-9789-A6796DA5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1961"/>
              </a:srgbClr>
            </a:solidFill>
            <a:prstDash val="solid"/>
          </a:ln>
        </p:spPr>
      </p:sp>
      <p:sp>
        <p:nvSpPr>
          <p:cNvPr id="11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54866BCD-C4BF-4594-A67E-5340B0C6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12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37B3EE6-8B61-4D98-B5FB-67AB4C7A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rPr>
              <a:t>01 / 08</a:t>
            </a:r>
          </a:p>
        </p:txBody>
      </p:sp>
    </p:spTree>
    <p:extLst>
      <p:ext uri="{BB962C8B-B14F-4D97-AF65-F5344CB8AC3E}">
        <p14:creationId xmlns:p14="http://schemas.microsoft.com/office/powerpoint/2010/main" val="5381066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FCD968-4B82-48BC-91BE-FE5C958A2E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bebe7e3d84cc3"/>
          <a:stretch xmlns:a="http://schemas.openxmlformats.org/drawingml/2006/main"/>
        </p:blipFill>
        <p:spPr>
          <a:xfrm xmlns:a="http://schemas.openxmlformats.org/drawingml/2006/main">
            <a:off x="590550" y="4572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" name="brand-lockup">
            <a:extLst xmlns:a="http://schemas.openxmlformats.org/drawingml/2006/main">
              <a:ext uri="{FF2B5EF4-FFF2-40B4-BE49-F238E27FC236}">
                <a16:creationId xmlns:a16="http://schemas.microsoft.com/office/drawing/2014/main" id="{2DB3677A-54E3-4A50-8933-AD94A0E9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1"/>
          </a:bodyPr>
          <a:lstStyle xmlns:a="http://schemas.openxmlformats.org/drawingml/2006/main">
            <a:def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3" name="brand-subtitle">
            <a:extLst xmlns:a="http://schemas.openxmlformats.org/drawingml/2006/main">
              <a:ext uri="{FF2B5EF4-FFF2-40B4-BE49-F238E27FC236}">
                <a16:creationId xmlns:a16="http://schemas.microsoft.com/office/drawing/2014/main" id="{6D744137-0C8C-465E-8B7C-D2A4F6CC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3900"/>
            <a:ext cx="3143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4" name="label-The problem">
            <a:extLst xmlns:a="http://schemas.openxmlformats.org/drawingml/2006/main">
              <a:ext uri="{FF2B5EF4-FFF2-40B4-BE49-F238E27FC236}">
                <a16:creationId xmlns:a16="http://schemas.microsoft.com/office/drawing/2014/main" id="{86528EA7-E593-4872-A7F7-EF1EB045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THE PROBLEM</a:t>
            </a:r>
          </a:p>
        </p:txBody>
      </p:sp>
      <p:sp>
        <p:nvSpPr>
          <p:cNvPr id="5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44B3A131-C0EC-40AD-9E51-98D89B7A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762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The gap appears before code.</a:t>
            </a:r>
          </a:p>
        </p:txBody>
      </p:sp>
      <p:sp>
        <p:nvSpPr>
          <p:cNvPr id="6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B30498F9-C2EF-450D-9451-FC59FC5A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7086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652"/>
          </a:bodyPr>
          <a:lstStyle xmlns:a="http://schemas.openxmlformats.org/drawingml/2006/main">
            <a:def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A short request can sound clear while leaving the decisions that shape the solution unstated.</a:t>
            </a:r>
          </a:p>
        </p:txBody>
      </p:sp>
      <p:sp>
        <p:nvSpPr>
          <p:cNvPr id="7" name="request-panel">
            <a:extLst xmlns:a="http://schemas.openxmlformats.org/drawingml/2006/main">
              <a:ext uri="{FF2B5EF4-FFF2-40B4-BE49-F238E27FC236}">
                <a16:creationId xmlns:a16="http://schemas.microsoft.com/office/drawing/2014/main" id="{D86A6B99-40EF-4E46-BB3A-A03FC36E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43350"/>
            <a:ext cx="3429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8" name="request-heading">
            <a:extLst xmlns:a="http://schemas.openxmlformats.org/drawingml/2006/main">
              <a:ext uri="{FF2B5EF4-FFF2-40B4-BE49-F238E27FC236}">
                <a16:creationId xmlns:a16="http://schemas.microsoft.com/office/drawing/2014/main" id="{56919A94-5E6F-49F7-89E3-063AE920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1482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rPr>
              <a:t>WHAT GETS ASKED</a:t>
            </a:r>
          </a:p>
        </p:txBody>
      </p:sp>
      <p:sp>
        <p:nvSpPr>
          <p:cNvPr id="9" name="request-example">
            <a:extLst xmlns:a="http://schemas.openxmlformats.org/drawingml/2006/main">
              <a:ext uri="{FF2B5EF4-FFF2-40B4-BE49-F238E27FC236}">
                <a16:creationId xmlns:a16="http://schemas.microsoft.com/office/drawing/2014/main" id="{3B0F6EF9-C27D-458E-B3A9-12A9F90F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26860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583"/>
          </a:bodyPr>
          <a:lstStyle xmlns:a="http://schemas.openxmlformats.org/drawingml/2006/main">
            <a:def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25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“Add a health-check endpoint.”</a:t>
            </a:r>
          </a:p>
        </p:txBody>
      </p:sp>
      <p:sp>
        <p:nvSpPr>
          <p:cNvPr id="10" name="request-footnote">
            <a:extLst xmlns:a="http://schemas.openxmlformats.org/drawingml/2006/main">
              <a:ext uri="{FF2B5EF4-FFF2-40B4-BE49-F238E27FC236}">
                <a16:creationId xmlns:a16="http://schemas.microsoft.com/office/drawing/2014/main" id="{E6B98103-6D9C-4B28-886D-2CBC44FB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638925"/>
            <a:ext cx="2590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Enough to begin a conversation. Not enough to prove the right implementation.</a:t>
            </a:r>
          </a:p>
        </p:txBody>
      </p:sp>
      <p:sp>
        <p:nvSpPr>
          <p:cNvPr id="11" name="decisions-panel">
            <a:extLst xmlns:a="http://schemas.openxmlformats.org/drawingml/2006/main">
              <a:ext uri="{FF2B5EF4-FFF2-40B4-BE49-F238E27FC236}">
                <a16:creationId xmlns:a16="http://schemas.microsoft.com/office/drawing/2014/main" id="{D2AA7D53-3DE5-445D-9EF4-DAC8146F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43350"/>
            <a:ext cx="52959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ecisions-heading">
            <a:extLst xmlns:a="http://schemas.openxmlformats.org/drawingml/2006/main">
              <a:ext uri="{FF2B5EF4-FFF2-40B4-BE49-F238E27FC236}">
                <a16:creationId xmlns:a16="http://schemas.microsoft.com/office/drawing/2014/main" id="{C407A75D-266F-4E1C-B4FF-ADBA9246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14825"/>
            <a:ext cx="3524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rPr>
              <a:t>WHAT STILL HAS TO BE DECIDED</a:t>
            </a:r>
          </a:p>
        </p:txBody>
      </p:sp>
      <p:sp>
        <p:nvSpPr>
          <p:cNvPr id="13" name="decision-dot-0">
            <a:extLst xmlns:a="http://schemas.openxmlformats.org/drawingml/2006/main">
              <a:ext uri="{FF2B5EF4-FFF2-40B4-BE49-F238E27FC236}">
                <a16:creationId xmlns:a16="http://schemas.microsoft.com/office/drawing/2014/main" id="{286025B2-CB4B-41CC-B36C-91B0FDE1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95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ecision-label-0">
            <a:extLst xmlns:a="http://schemas.openxmlformats.org/drawingml/2006/main">
              <a:ext uri="{FF2B5EF4-FFF2-40B4-BE49-F238E27FC236}">
                <a16:creationId xmlns:a16="http://schemas.microsoft.com/office/drawing/2014/main" id="{603FAFDC-4C91-4CA0-957F-8AC0D005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48225"/>
            <a:ext cx="1095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80"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Scope</a:t>
            </a:r>
          </a:p>
        </p:txBody>
      </p:sp>
      <p:sp>
        <p:nvSpPr>
          <p:cNvPr id="15" name="decision-copy-0">
            <a:extLst xmlns:a="http://schemas.openxmlformats.org/drawingml/2006/main">
              <a:ext uri="{FF2B5EF4-FFF2-40B4-BE49-F238E27FC236}">
                <a16:creationId xmlns:a16="http://schemas.microsoft.com/office/drawing/2014/main" id="{92E8C766-2ECE-4D62-98F9-439484F4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4822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870"/>
          </a:bodyPr>
          <a:lstStyle xmlns:a="http://schemas.openxmlformats.org/drawingml/2006/main">
            <a:def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Which service and dependencies are included?</a:t>
            </a:r>
          </a:p>
        </p:txBody>
      </p:sp>
      <p:sp>
        <p:nvSpPr>
          <p:cNvPr id="16" name="decision-dot-1">
            <a:extLst xmlns:a="http://schemas.openxmlformats.org/drawingml/2006/main">
              <a:ext uri="{FF2B5EF4-FFF2-40B4-BE49-F238E27FC236}">
                <a16:creationId xmlns:a16="http://schemas.microsoft.com/office/drawing/2014/main" id="{F1620C20-F5B3-4F1F-A715-8F85788F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62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ecision-label-1">
            <a:extLst xmlns:a="http://schemas.openxmlformats.org/drawingml/2006/main">
              <a:ext uri="{FF2B5EF4-FFF2-40B4-BE49-F238E27FC236}">
                <a16:creationId xmlns:a16="http://schemas.microsoft.com/office/drawing/2014/main" id="{F33BF4E2-1415-4D54-A5D5-455316B3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514975"/>
            <a:ext cx="1095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80"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Contract</a:t>
            </a:r>
          </a:p>
        </p:txBody>
      </p:sp>
      <p:sp>
        <p:nvSpPr>
          <p:cNvPr id="18" name="decision-copy-1">
            <a:extLst xmlns:a="http://schemas.openxmlformats.org/drawingml/2006/main">
              <a:ext uri="{FF2B5EF4-FFF2-40B4-BE49-F238E27FC236}">
                <a16:creationId xmlns:a16="http://schemas.microsoft.com/office/drawing/2014/main" id="{48257130-D97B-4D94-B67A-8249C57F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51497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What response defines healthy or unhealthy?</a:t>
            </a:r>
          </a:p>
        </p:txBody>
      </p:sp>
      <p:sp>
        <p:nvSpPr>
          <p:cNvPr id="19" name="decision-dot-2">
            <a:extLst xmlns:a="http://schemas.openxmlformats.org/drawingml/2006/main">
              <a:ext uri="{FF2B5EF4-FFF2-40B4-BE49-F238E27FC236}">
                <a16:creationId xmlns:a16="http://schemas.microsoft.com/office/drawing/2014/main" id="{9F7FC128-D26D-4C23-9180-92596985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229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decision-label-2">
            <a:extLst xmlns:a="http://schemas.openxmlformats.org/drawingml/2006/main">
              <a:ext uri="{FF2B5EF4-FFF2-40B4-BE49-F238E27FC236}">
                <a16:creationId xmlns:a16="http://schemas.microsoft.com/office/drawing/2014/main" id="{0C093AC8-6561-4B15-B852-295A8870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181725"/>
            <a:ext cx="1095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80"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Ownership</a:t>
            </a:r>
          </a:p>
        </p:txBody>
      </p:sp>
      <p:sp>
        <p:nvSpPr>
          <p:cNvPr id="21" name="decision-copy-2">
            <a:extLst xmlns:a="http://schemas.openxmlformats.org/drawingml/2006/main">
              <a:ext uri="{FF2B5EF4-FFF2-40B4-BE49-F238E27FC236}">
                <a16:creationId xmlns:a16="http://schemas.microsoft.com/office/drawing/2014/main" id="{B4645776-34B1-443E-9985-F15DE653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618172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Who uses the signal and how is it monitored?</a:t>
            </a:r>
          </a:p>
        </p:txBody>
      </p:sp>
      <p:sp>
        <p:nvSpPr>
          <p:cNvPr id="22" name="decision-dot-3">
            <a:extLst xmlns:a="http://schemas.openxmlformats.org/drawingml/2006/main">
              <a:ext uri="{FF2B5EF4-FFF2-40B4-BE49-F238E27FC236}">
                <a16:creationId xmlns:a16="http://schemas.microsoft.com/office/drawing/2014/main" id="{809A4E21-FB86-4CD8-A8E2-1D5F4B8B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896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ecision-label-3">
            <a:extLst xmlns:a="http://schemas.openxmlformats.org/drawingml/2006/main">
              <a:ext uri="{FF2B5EF4-FFF2-40B4-BE49-F238E27FC236}">
                <a16:creationId xmlns:a16="http://schemas.microsoft.com/office/drawing/2014/main" id="{2E39E0B8-34F7-4BA6-9D27-FEF9C517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848475"/>
            <a:ext cx="1095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80"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Proof</a:t>
            </a:r>
          </a:p>
        </p:txBody>
      </p:sp>
      <p:sp>
        <p:nvSpPr>
          <p:cNvPr id="24" name="decision-copy-3">
            <a:extLst xmlns:a="http://schemas.openxmlformats.org/drawingml/2006/main">
              <a:ext uri="{FF2B5EF4-FFF2-40B4-BE49-F238E27FC236}">
                <a16:creationId xmlns:a16="http://schemas.microsoft.com/office/drawing/2014/main" id="{381E384A-AC87-42E4-9702-77BE50F8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684847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870"/>
          </a:bodyPr>
          <a:lstStyle xmlns:a="http://schemas.openxmlformats.org/drawingml/2006/main">
            <a:def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Which tests demonstrate the desired behavior?</a:t>
            </a:r>
          </a:p>
        </p:txBody>
      </p:sp>
      <p:sp>
        <p:nvSpPr>
          <p:cNvPr id="25" name="problem-conclusion">
            <a:extLst xmlns:a="http://schemas.openxmlformats.org/drawingml/2006/main">
              <a:ext uri="{FF2B5EF4-FFF2-40B4-BE49-F238E27FC236}">
                <a16:creationId xmlns:a16="http://schemas.microsoft.com/office/drawing/2014/main" id="{62DCA603-F314-445C-8B8F-4B50AB36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Unanswered decisions are where avoidable rework starts.</a:t>
            </a:r>
          </a:p>
        </p:txBody>
      </p:sp>
      <p:sp>
        <p:nvSpPr>
          <p:cNvPr id="2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6B841D8-0B6E-48A2-8254-43ADDA08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2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4ADDB7A1-712D-40D5-BE0D-EC0A266E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2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D304DE3-EE97-438A-BEE5-6E025354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02 / 08</a:t>
            </a:r>
          </a:p>
        </p:txBody>
      </p:sp>
    </p:spTree>
    <p:extLst>
      <p:ext uri="{BB962C8B-B14F-4D97-AF65-F5344CB8AC3E}">
        <p14:creationId xmlns:p14="http://schemas.microsoft.com/office/powerpoint/2010/main" val="12860684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9CAFEF-206D-4251-BAD1-C1BAD60A6E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b968d460cd4f6d"/>
          <a:stretch xmlns:a="http://schemas.openxmlformats.org/drawingml/2006/main"/>
        </p:blipFill>
        <p:spPr>
          <a:xfrm xmlns:a="http://schemas.openxmlformats.org/drawingml/2006/main">
            <a:off x="590550" y="4572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" name="brand-lockup">
            <a:extLst xmlns:a="http://schemas.openxmlformats.org/drawingml/2006/main">
              <a:ext uri="{FF2B5EF4-FFF2-40B4-BE49-F238E27FC236}">
                <a16:creationId xmlns:a16="http://schemas.microsoft.com/office/drawing/2014/main" id="{FA2A06B7-1F4F-4789-A4B3-CFE73415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1"/>
          </a:bodyPr>
          <a:lstStyle xmlns:a="http://schemas.openxmlformats.org/drawingml/2006/main">
            <a:def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3" name="brand-subtitle">
            <a:extLst xmlns:a="http://schemas.openxmlformats.org/drawingml/2006/main">
              <a:ext uri="{FF2B5EF4-FFF2-40B4-BE49-F238E27FC236}">
                <a16:creationId xmlns:a16="http://schemas.microsoft.com/office/drawing/2014/main" id="{ED19807D-B857-4E1F-A414-1A0D9352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3900"/>
            <a:ext cx="3143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4" name="label-The proposal">
            <a:extLst xmlns:a="http://schemas.openxmlformats.org/drawingml/2006/main">
              <a:ext uri="{FF2B5EF4-FFF2-40B4-BE49-F238E27FC236}">
                <a16:creationId xmlns:a16="http://schemas.microsoft.com/office/drawing/2014/main" id="{C1F0B3D6-136E-44CD-B6B7-CACE6824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THE PROPOSAL</a:t>
            </a:r>
          </a:p>
        </p:txBody>
      </p:sp>
      <p:sp>
        <p:nvSpPr>
          <p:cNvPr id="5" name="solution-title">
            <a:extLst xmlns:a="http://schemas.openxmlformats.org/drawingml/2006/main">
              <a:ext uri="{FF2B5EF4-FFF2-40B4-BE49-F238E27FC236}">
                <a16:creationId xmlns:a16="http://schemas.microsoft.com/office/drawing/2014/main" id="{403663FB-54D4-4055-95F8-D1AC16A9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800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360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Make the thinking inspectable.</a:t>
            </a:r>
          </a:p>
        </p:txBody>
      </p:sp>
      <p:sp>
        <p:nvSpPr>
          <p:cNvPr id="6" name="solution-copy">
            <a:extLst xmlns:a="http://schemas.openxmlformats.org/drawingml/2006/main">
              <a:ext uri="{FF2B5EF4-FFF2-40B4-BE49-F238E27FC236}">
                <a16:creationId xmlns:a16="http://schemas.microsoft.com/office/drawing/2014/main" id="{5FCDBEBA-E19F-4F35-8D37-783B312C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817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70"/>
          </a:bodyPr>
          <a:lstStyle xmlns:a="http://schemas.openxmlformats.org/drawingml/2006/main">
            <a:def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Dev Journey Agent turns an early request into a review package with assumptions, acceptance criteria, tests, and a visible decision state.</a:t>
            </a:r>
          </a:p>
        </p:txBody>
      </p:sp>
      <p:sp>
        <p:nvSpPr>
          <p:cNvPr id="7" name="solution-number-0">
            <a:extLst xmlns:a="http://schemas.openxmlformats.org/drawingml/2006/main">
              <a:ext uri="{FF2B5EF4-FFF2-40B4-BE49-F238E27FC236}">
                <a16:creationId xmlns:a16="http://schemas.microsoft.com/office/drawing/2014/main" id="{6F9EA4B5-5256-4028-B626-6672FACE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olution-number-text-0">
            <a:extLst xmlns:a="http://schemas.openxmlformats.org/drawingml/2006/main">
              <a:ext uri="{FF2B5EF4-FFF2-40B4-BE49-F238E27FC236}">
                <a16:creationId xmlns:a16="http://schemas.microsoft.com/office/drawing/2014/main" id="{FF0371C1-F7F3-47A2-955A-132DE333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291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639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</a:t>
            </a:r>
          </a:p>
        </p:txBody>
      </p:sp>
      <p:sp>
        <p:nvSpPr>
          <p:cNvPr id="9" name="solution-rule-0">
            <a:extLst xmlns:a="http://schemas.openxmlformats.org/drawingml/2006/main">
              <a:ext uri="{FF2B5EF4-FFF2-40B4-BE49-F238E27FC236}">
                <a16:creationId xmlns:a16="http://schemas.microsoft.com/office/drawing/2014/main" id="{245946C2-D1FE-4B89-853B-D28E8B07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991100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E0EC"/>
            </a:solidFill>
            <a:prstDash val="solid"/>
          </a:ln>
        </p:spPr>
      </p:sp>
      <p:sp>
        <p:nvSpPr>
          <p:cNvPr id="10" name="solution-label-0">
            <a:extLst xmlns:a="http://schemas.openxmlformats.org/drawingml/2006/main">
              <a:ext uri="{FF2B5EF4-FFF2-40B4-BE49-F238E27FC236}">
                <a16:creationId xmlns:a16="http://schemas.microsoft.com/office/drawing/2014/main" id="{30913384-CEB2-40A8-ACA6-B8CEE294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770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rPr>
              <a:t>INPUT</a:t>
            </a:r>
          </a:p>
        </p:txBody>
      </p:sp>
      <p:sp>
        <p:nvSpPr>
          <p:cNvPr id="11" name="solution-title-0">
            <a:extLst xmlns:a="http://schemas.openxmlformats.org/drawingml/2006/main">
              <a:ext uri="{FF2B5EF4-FFF2-40B4-BE49-F238E27FC236}">
                <a16:creationId xmlns:a16="http://schemas.microsoft.com/office/drawing/2014/main" id="{F3875D81-D7D1-4183-9DC9-0681FC47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39025"/>
            <a:ext cx="2552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Request + context</a:t>
            </a:r>
          </a:p>
        </p:txBody>
      </p:sp>
      <p:sp>
        <p:nvSpPr>
          <p:cNvPr id="12" name="solution-body-0">
            <a:extLst xmlns:a="http://schemas.openxmlformats.org/drawingml/2006/main">
              <a:ext uri="{FF2B5EF4-FFF2-40B4-BE49-F238E27FC236}">
                <a16:creationId xmlns:a16="http://schemas.microsoft.com/office/drawing/2014/main" id="{6EF83623-C6C4-4D52-AC94-392630A9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191500"/>
            <a:ext cx="2647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A ticket and read-only repository context start the planning process.</a:t>
            </a:r>
          </a:p>
        </p:txBody>
      </p:sp>
      <p:sp>
        <p:nvSpPr>
          <p:cNvPr id="13" name="solution-number-1">
            <a:extLst xmlns:a="http://schemas.openxmlformats.org/drawingml/2006/main">
              <a:ext uri="{FF2B5EF4-FFF2-40B4-BE49-F238E27FC236}">
                <a16:creationId xmlns:a16="http://schemas.microsoft.com/office/drawing/2014/main" id="{B561E4A2-2433-4A17-8D98-A6E78B20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29577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lution-number-text-1">
            <a:extLst xmlns:a="http://schemas.openxmlformats.org/drawingml/2006/main">
              <a:ext uri="{FF2B5EF4-FFF2-40B4-BE49-F238E27FC236}">
                <a16:creationId xmlns:a16="http://schemas.microsoft.com/office/drawing/2014/main" id="{43BDE569-B62E-422F-BB4B-4B885CE3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4291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639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</a:t>
            </a:r>
          </a:p>
        </p:txBody>
      </p:sp>
      <p:sp>
        <p:nvSpPr>
          <p:cNvPr id="15" name="solution-rule-1">
            <a:extLst xmlns:a="http://schemas.openxmlformats.org/drawingml/2006/main">
              <a:ext uri="{FF2B5EF4-FFF2-40B4-BE49-F238E27FC236}">
                <a16:creationId xmlns:a16="http://schemas.microsoft.com/office/drawing/2014/main" id="{AB97C78B-5590-4BED-9EF4-13A98904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991100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E0EC"/>
            </a:solidFill>
            <a:prstDash val="solid"/>
          </a:ln>
        </p:spPr>
      </p:sp>
      <p:sp>
        <p:nvSpPr>
          <p:cNvPr id="16" name="solution-label-1">
            <a:extLst xmlns:a="http://schemas.openxmlformats.org/drawingml/2006/main">
              <a:ext uri="{FF2B5EF4-FFF2-40B4-BE49-F238E27FC236}">
                <a16:creationId xmlns:a16="http://schemas.microsoft.com/office/drawing/2014/main" id="{396189BC-ECE6-490E-8EEE-53FCFA0E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0770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METHOD</a:t>
            </a:r>
          </a:p>
        </p:txBody>
      </p:sp>
      <p:sp>
        <p:nvSpPr>
          <p:cNvPr id="17" name="solution-title-1">
            <a:extLst xmlns:a="http://schemas.openxmlformats.org/drawingml/2006/main">
              <a:ext uri="{FF2B5EF4-FFF2-40B4-BE49-F238E27FC236}">
                <a16:creationId xmlns:a16="http://schemas.microsoft.com/office/drawing/2014/main" id="{C8D75A84-603B-496E-AA07-25FAA17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439025"/>
            <a:ext cx="2552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Planning rules</a:t>
            </a:r>
          </a:p>
        </p:txBody>
      </p:sp>
      <p:sp>
        <p:nvSpPr>
          <p:cNvPr id="18" name="solution-body-1">
            <a:extLst xmlns:a="http://schemas.openxmlformats.org/drawingml/2006/main">
              <a:ext uri="{FF2B5EF4-FFF2-40B4-BE49-F238E27FC236}">
                <a16:creationId xmlns:a16="http://schemas.microsoft.com/office/drawing/2014/main" id="{913FB7E9-838D-4802-A55E-C68F3C5B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8191500"/>
            <a:ext cx="2647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Clarify gaps, define “done”, connect requirements to tests, then run a critic gate.</a:t>
            </a:r>
          </a:p>
        </p:txBody>
      </p:sp>
      <p:sp>
        <p:nvSpPr>
          <p:cNvPr id="19" name="solution-number-2">
            <a:extLst xmlns:a="http://schemas.openxmlformats.org/drawingml/2006/main">
              <a:ext uri="{FF2B5EF4-FFF2-40B4-BE49-F238E27FC236}">
                <a16:creationId xmlns:a16="http://schemas.microsoft.com/office/drawing/2014/main" id="{FB0E62EC-1D1B-4E67-86CA-007615B2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9577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olution-number-text-2">
            <a:extLst xmlns:a="http://schemas.openxmlformats.org/drawingml/2006/main">
              <a:ext uri="{FF2B5EF4-FFF2-40B4-BE49-F238E27FC236}">
                <a16:creationId xmlns:a16="http://schemas.microsoft.com/office/drawing/2014/main" id="{FBDA086A-43D6-4518-B23E-447EE733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291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639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3</a:t>
            </a:r>
          </a:p>
        </p:txBody>
      </p:sp>
      <p:sp>
        <p:nvSpPr>
          <p:cNvPr id="21" name="solution-rule-2">
            <a:extLst xmlns:a="http://schemas.openxmlformats.org/drawingml/2006/main">
              <a:ext uri="{FF2B5EF4-FFF2-40B4-BE49-F238E27FC236}">
                <a16:creationId xmlns:a16="http://schemas.microsoft.com/office/drawing/2014/main" id="{5FB2DD1E-958E-4AAF-AEB6-DF0A0165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991100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E0EC"/>
            </a:solidFill>
            <a:prstDash val="solid"/>
          </a:ln>
        </p:spPr>
      </p:sp>
      <p:sp>
        <p:nvSpPr>
          <p:cNvPr id="22" name="solution-label-2">
            <a:extLst xmlns:a="http://schemas.openxmlformats.org/drawingml/2006/main">
              <a:ext uri="{FF2B5EF4-FFF2-40B4-BE49-F238E27FC236}">
                <a16:creationId xmlns:a16="http://schemas.microsoft.com/office/drawing/2014/main" id="{A4C47B85-64E2-4A64-8971-789BB046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07707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RESULT</a:t>
            </a:r>
          </a:p>
        </p:txBody>
      </p:sp>
      <p:sp>
        <p:nvSpPr>
          <p:cNvPr id="23" name="solution-title-2">
            <a:extLst xmlns:a="http://schemas.openxmlformats.org/drawingml/2006/main">
              <a:ext uri="{FF2B5EF4-FFF2-40B4-BE49-F238E27FC236}">
                <a16:creationId xmlns:a16="http://schemas.microsoft.com/office/drawing/2014/main" id="{8C37D9B9-621E-4C73-953B-2C2AA927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439025"/>
            <a:ext cx="2552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Review package</a:t>
            </a:r>
          </a:p>
        </p:txBody>
      </p:sp>
      <p:sp>
        <p:nvSpPr>
          <p:cNvPr id="24" name="solution-body-2">
            <a:extLst xmlns:a="http://schemas.openxmlformats.org/drawingml/2006/main">
              <a:ext uri="{FF2B5EF4-FFF2-40B4-BE49-F238E27FC236}">
                <a16:creationId xmlns:a16="http://schemas.microsoft.com/office/drawing/2014/main" id="{8B462E02-C751-433C-BD5E-3E975647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8191500"/>
            <a:ext cx="2647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A plan and evidence bundle, or a concise explanation of what must be clarified.</a:t>
            </a:r>
          </a:p>
        </p:txBody>
      </p:sp>
      <p:sp>
        <p:nvSpPr>
          <p:cNvPr id="25" name="solution-connector-one">
            <a:extLst xmlns:a="http://schemas.openxmlformats.org/drawingml/2006/main">
              <a:ext uri="{FF2B5EF4-FFF2-40B4-BE49-F238E27FC236}">
                <a16:creationId xmlns:a16="http://schemas.microsoft.com/office/drawing/2014/main" id="{80754F66-639C-4495-8E79-EB86A846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57200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7D5"/>
            </a:solidFill>
            <a:prstDash val="solid"/>
          </a:ln>
        </p:spPr>
      </p:sp>
      <p:sp>
        <p:nvSpPr>
          <p:cNvPr id="26" name="solution-connector-one-dot">
            <a:extLst xmlns:a="http://schemas.openxmlformats.org/drawingml/2006/main">
              <a:ext uri="{FF2B5EF4-FFF2-40B4-BE49-F238E27FC236}">
                <a16:creationId xmlns:a16="http://schemas.microsoft.com/office/drawing/2014/main" id="{6A527297-F41F-422B-8E44-6808C174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505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olution-connector-two">
            <a:extLst xmlns:a="http://schemas.openxmlformats.org/drawingml/2006/main">
              <a:ext uri="{FF2B5EF4-FFF2-40B4-BE49-F238E27FC236}">
                <a16:creationId xmlns:a16="http://schemas.microsoft.com/office/drawing/2014/main" id="{FCDED092-5121-4B3E-8FB6-2237295B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57200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8B8D"/>
            </a:solidFill>
            <a:prstDash val="solid"/>
          </a:ln>
        </p:spPr>
      </p:sp>
      <p:sp>
        <p:nvSpPr>
          <p:cNvPr id="28" name="solution-connector-two-dot">
            <a:extLst xmlns:a="http://schemas.openxmlformats.org/drawingml/2006/main">
              <a:ext uri="{FF2B5EF4-FFF2-40B4-BE49-F238E27FC236}">
                <a16:creationId xmlns:a16="http://schemas.microsoft.com/office/drawing/2014/main" id="{5E6FC440-2603-48E8-A9B6-31CA062E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05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D0ADA57-A3E3-422E-8013-295BEC0E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30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083E9B13-BA8A-49E7-A48A-6C68EA4B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31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1F05B49-344C-4780-B72E-4A229CF3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03 / 08</a:t>
            </a:r>
          </a:p>
        </p:txBody>
      </p:sp>
    </p:spTree>
    <p:extLst>
      <p:ext uri="{BB962C8B-B14F-4D97-AF65-F5344CB8AC3E}">
        <p14:creationId xmlns:p14="http://schemas.microsoft.com/office/powerpoint/2010/main" val="16631798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389E4F-A06E-4134-AF46-090669D019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0097a9af7444e"/>
          <a:stretch xmlns:a="http://schemas.openxmlformats.org/drawingml/2006/main"/>
        </p:blipFill>
        <p:spPr>
          <a:xfrm xmlns:a="http://schemas.openxmlformats.org/drawingml/2006/main">
            <a:off x="590550" y="4572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" name="brand-lockup">
            <a:extLst xmlns:a="http://schemas.openxmlformats.org/drawingml/2006/main">
              <a:ext uri="{FF2B5EF4-FFF2-40B4-BE49-F238E27FC236}">
                <a16:creationId xmlns:a16="http://schemas.microsoft.com/office/drawing/2014/main" id="{02024122-741A-441D-840C-3F8106A0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1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3" name="brand-subtitle">
            <a:extLst xmlns:a="http://schemas.openxmlformats.org/drawingml/2006/main">
              <a:ext uri="{FF2B5EF4-FFF2-40B4-BE49-F238E27FC236}">
                <a16:creationId xmlns:a16="http://schemas.microsoft.com/office/drawing/2014/main" id="{724AACB9-013C-47AF-B536-54C04286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3900"/>
            <a:ext cx="3143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4" name="label-The workflow">
            <a:extLst xmlns:a="http://schemas.openxmlformats.org/drawingml/2006/main">
              <a:ext uri="{FF2B5EF4-FFF2-40B4-BE49-F238E27FC236}">
                <a16:creationId xmlns:a16="http://schemas.microsoft.com/office/drawing/2014/main" id="{94CCC508-6B64-458F-AE34-CE53239C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THE WORKFLOW</a:t>
            </a:r>
          </a:p>
        </p:txBody>
      </p:sp>
      <p:sp>
        <p:nvSpPr>
          <p:cNvPr id="5" name="workflow-title">
            <a:extLst xmlns:a="http://schemas.openxmlformats.org/drawingml/2006/main">
              <a:ext uri="{FF2B5EF4-FFF2-40B4-BE49-F238E27FC236}">
                <a16:creationId xmlns:a16="http://schemas.microsoft.com/office/drawing/2014/main" id="{1554765F-420F-4875-8ECE-927FA689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8210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89"/>
          </a:bodyPr>
          <a:lstStyle xmlns:a="http://schemas.openxmlformats.org/drawingml/2006/main">
            <a:def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From request to evidence in six reviewable stages.</a:t>
            </a:r>
          </a:p>
        </p:txBody>
      </p:sp>
      <p:sp>
        <p:nvSpPr>
          <p:cNvPr id="6" name="stage-accent-0">
            <a:extLst xmlns:a="http://schemas.openxmlformats.org/drawingml/2006/main">
              <a:ext uri="{FF2B5EF4-FFF2-40B4-BE49-F238E27FC236}">
                <a16:creationId xmlns:a16="http://schemas.microsoft.com/office/drawing/2014/main" id="{F54D16F8-0A27-496C-A316-ED86ED57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143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panel-0">
            <a:extLst xmlns:a="http://schemas.openxmlformats.org/drawingml/2006/main">
              <a:ext uri="{FF2B5EF4-FFF2-40B4-BE49-F238E27FC236}">
                <a16:creationId xmlns:a16="http://schemas.microsoft.com/office/drawing/2014/main" id="{9F625151-3E76-40E8-84D1-6D5253D6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05225"/>
            <a:ext cx="2724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99C4A168-E7C8-400D-AE3A-EC46EB14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719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9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4FCB53CF-497D-44A5-916F-B4CD6E4F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33875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Read context</a:t>
            </a:r>
          </a:p>
        </p:txBody>
      </p:sp>
      <p:sp>
        <p:nvSpPr>
          <p:cNvPr id="10" name="stage-body-0">
            <a:extLst xmlns:a="http://schemas.openxmlformats.org/drawingml/2006/main">
              <a:ext uri="{FF2B5EF4-FFF2-40B4-BE49-F238E27FC236}">
                <a16:creationId xmlns:a16="http://schemas.microsoft.com/office/drawing/2014/main" id="{EB057FBA-FCAA-43F2-BAE5-F9ADF15C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196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Retrieve repository structure and constraints.</a:t>
            </a:r>
          </a:p>
        </p:txBody>
      </p:sp>
      <p:sp>
        <p:nvSpPr>
          <p:cNvPr id="11" name="stage-accent-1">
            <a:extLst xmlns:a="http://schemas.openxmlformats.org/drawingml/2006/main">
              <a:ext uri="{FF2B5EF4-FFF2-40B4-BE49-F238E27FC236}">
                <a16:creationId xmlns:a16="http://schemas.microsoft.com/office/drawing/2014/main" id="{08214068-734D-4BA7-A5DE-1DBA78C1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05225"/>
            <a:ext cx="1143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ge-panel-1">
            <a:extLst xmlns:a="http://schemas.openxmlformats.org/drawingml/2006/main">
              <a:ext uri="{FF2B5EF4-FFF2-40B4-BE49-F238E27FC236}">
                <a16:creationId xmlns:a16="http://schemas.microsoft.com/office/drawing/2014/main" id="{8DDAFA99-A66B-4947-8AAF-27B6453D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705225"/>
            <a:ext cx="2724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844FA39E-8E1D-4432-BA54-45D3596D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719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50BD0052-B029-4669-A414-99923C2C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33875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Refine</a:t>
            </a:r>
          </a:p>
        </p:txBody>
      </p:sp>
      <p:sp>
        <p:nvSpPr>
          <p:cNvPr id="15" name="stage-body-1">
            <a:extLst xmlns:a="http://schemas.openxmlformats.org/drawingml/2006/main">
              <a:ext uri="{FF2B5EF4-FFF2-40B4-BE49-F238E27FC236}">
                <a16:creationId xmlns:a16="http://schemas.microsoft.com/office/drawing/2014/main" id="{3CDB54F0-0053-4056-8B23-E9099FDA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196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Expose assumptions and missing details.</a:t>
            </a:r>
          </a:p>
        </p:txBody>
      </p:sp>
      <p:sp>
        <p:nvSpPr>
          <p:cNvPr id="16" name="stage-accent-2">
            <a:extLst xmlns:a="http://schemas.openxmlformats.org/drawingml/2006/main">
              <a:ext uri="{FF2B5EF4-FFF2-40B4-BE49-F238E27FC236}">
                <a16:creationId xmlns:a16="http://schemas.microsoft.com/office/drawing/2014/main" id="{618D90BF-2BB5-4F59-BE14-E6D96399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05225"/>
            <a:ext cx="1143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age-panel-2">
            <a:extLst xmlns:a="http://schemas.openxmlformats.org/drawingml/2006/main">
              <a:ext uri="{FF2B5EF4-FFF2-40B4-BE49-F238E27FC236}">
                <a16:creationId xmlns:a16="http://schemas.microsoft.com/office/drawing/2014/main" id="{26271E68-55C0-4660-8C6F-2DFDD43D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05225"/>
            <a:ext cx="2724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F82DBA52-A812-4DD6-8BBA-7C191E6E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719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19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7F0AC59F-F533-4563-AA26-38576A12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33875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Define done</a:t>
            </a:r>
          </a:p>
        </p:txBody>
      </p:sp>
      <p:sp>
        <p:nvSpPr>
          <p:cNvPr id="20" name="stage-body-2">
            <a:extLst xmlns:a="http://schemas.openxmlformats.org/drawingml/2006/main">
              <a:ext uri="{FF2B5EF4-FFF2-40B4-BE49-F238E27FC236}">
                <a16:creationId xmlns:a16="http://schemas.microsoft.com/office/drawing/2014/main" id="{A63A6BA3-BBBC-4B68-B057-8A4A8527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196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Set acceptance criteria and boundaries.</a:t>
            </a:r>
          </a:p>
        </p:txBody>
      </p:sp>
      <p:sp>
        <p:nvSpPr>
          <p:cNvPr id="21" name="stage-accent-3">
            <a:extLst xmlns:a="http://schemas.openxmlformats.org/drawingml/2006/main">
              <a:ext uri="{FF2B5EF4-FFF2-40B4-BE49-F238E27FC236}">
                <a16:creationId xmlns:a16="http://schemas.microsoft.com/office/drawing/2014/main" id="{6A4FA448-9146-4699-AD32-DA54EFDA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96025"/>
            <a:ext cx="1143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ge-panel-3">
            <a:extLst xmlns:a="http://schemas.openxmlformats.org/drawingml/2006/main">
              <a:ext uri="{FF2B5EF4-FFF2-40B4-BE49-F238E27FC236}">
                <a16:creationId xmlns:a16="http://schemas.microsoft.com/office/drawing/2014/main" id="{2184100C-98B9-414D-8A54-A894E8D4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296025"/>
            <a:ext cx="2724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3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F7C13D22-B314-4719-B432-DE5A14BC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5627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  <p:sp>
        <p:nvSpPr>
          <p:cNvPr id="24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99D7A671-E074-4A0C-98ED-1D903656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924675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Specify + test</a:t>
            </a:r>
          </a:p>
        </p:txBody>
      </p:sp>
      <p:sp>
        <p:nvSpPr>
          <p:cNvPr id="25" name="stage-body-3">
            <a:extLst xmlns:a="http://schemas.openxmlformats.org/drawingml/2006/main">
              <a:ext uri="{FF2B5EF4-FFF2-40B4-BE49-F238E27FC236}">
                <a16:creationId xmlns:a16="http://schemas.microsoft.com/office/drawing/2014/main" id="{37E19A78-1F42-49EA-856E-B95889AF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410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Describe behavior and test cases.</a:t>
            </a:r>
          </a:p>
        </p:txBody>
      </p:sp>
      <p:sp>
        <p:nvSpPr>
          <p:cNvPr id="26" name="stage-accent-4">
            <a:extLst xmlns:a="http://schemas.openxmlformats.org/drawingml/2006/main">
              <a:ext uri="{FF2B5EF4-FFF2-40B4-BE49-F238E27FC236}">
                <a16:creationId xmlns:a16="http://schemas.microsoft.com/office/drawing/2014/main" id="{8B79D48D-6CF9-4A96-9CB2-8C892CC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296025"/>
            <a:ext cx="1143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panel-4">
            <a:extLst xmlns:a="http://schemas.openxmlformats.org/drawingml/2006/main">
              <a:ext uri="{FF2B5EF4-FFF2-40B4-BE49-F238E27FC236}">
                <a16:creationId xmlns:a16="http://schemas.microsoft.com/office/drawing/2014/main" id="{125CFE00-5432-4145-BA69-D956ADA0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296025"/>
            <a:ext cx="2724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8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39774DFE-D571-4DD5-944F-256231C6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65627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  <p:sp>
        <p:nvSpPr>
          <p:cNvPr id="29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38197286-3565-4678-9529-B32D3285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6924675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Critic gate</a:t>
            </a:r>
          </a:p>
        </p:txBody>
      </p:sp>
      <p:sp>
        <p:nvSpPr>
          <p:cNvPr id="30" name="stage-body-4">
            <a:extLst xmlns:a="http://schemas.openxmlformats.org/drawingml/2006/main">
              <a:ext uri="{FF2B5EF4-FFF2-40B4-BE49-F238E27FC236}">
                <a16:creationId xmlns:a16="http://schemas.microsoft.com/office/drawing/2014/main" id="{E72D6D28-C66F-4760-AA07-93765370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7410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Check completeness before approval.</a:t>
            </a:r>
          </a:p>
        </p:txBody>
      </p:sp>
      <p:sp>
        <p:nvSpPr>
          <p:cNvPr id="31" name="stage-accent-5">
            <a:extLst xmlns:a="http://schemas.openxmlformats.org/drawingml/2006/main">
              <a:ext uri="{FF2B5EF4-FFF2-40B4-BE49-F238E27FC236}">
                <a16:creationId xmlns:a16="http://schemas.microsoft.com/office/drawing/2014/main" id="{BA1CFCFB-638C-445B-B3FD-CA79E690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296025"/>
            <a:ext cx="1143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stage-panel-5">
            <a:extLst xmlns:a="http://schemas.openxmlformats.org/drawingml/2006/main">
              <a:ext uri="{FF2B5EF4-FFF2-40B4-BE49-F238E27FC236}">
                <a16:creationId xmlns:a16="http://schemas.microsoft.com/office/drawing/2014/main" id="{299D001C-03EF-4B57-9236-990B04CF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6296025"/>
            <a:ext cx="27241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33" name="stage-number-5">
            <a:extLst xmlns:a="http://schemas.openxmlformats.org/drawingml/2006/main">
              <a:ext uri="{FF2B5EF4-FFF2-40B4-BE49-F238E27FC236}">
                <a16:creationId xmlns:a16="http://schemas.microsoft.com/office/drawing/2014/main" id="{1D5634DC-FEFB-4FB0-A8FA-E9113244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65627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06</a:t>
            </a:r>
          </a:p>
        </p:txBody>
      </p:sp>
      <p:sp>
        <p:nvSpPr>
          <p:cNvPr id="34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B1D0FF78-8A2E-40DB-9A74-49AD2B6F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6924675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Export</a:t>
            </a:r>
          </a:p>
        </p:txBody>
      </p:sp>
      <p:sp>
        <p:nvSpPr>
          <p:cNvPr id="35" name="stage-body-5">
            <a:extLst xmlns:a="http://schemas.openxmlformats.org/drawingml/2006/main">
              <a:ext uri="{FF2B5EF4-FFF2-40B4-BE49-F238E27FC236}">
                <a16:creationId xmlns:a16="http://schemas.microsoft.com/office/drawing/2014/main" id="{5B599BB4-626A-4B20-835B-6336B846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7410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Write the plan and traceable evidence.</a:t>
            </a:r>
          </a:p>
        </p:txBody>
      </p:sp>
      <p:sp>
        <p:nvSpPr>
          <p:cNvPr id="36" name="workflow-note">
            <a:extLst xmlns:a="http://schemas.openxmlformats.org/drawingml/2006/main">
              <a:ext uri="{FF2B5EF4-FFF2-40B4-BE49-F238E27FC236}">
                <a16:creationId xmlns:a16="http://schemas.microsoft.com/office/drawing/2014/main" id="{8931EF68-1829-4982-8DC6-5F388531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34450"/>
            <a:ext cx="8172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735"/>
          </a:bodyPr>
          <a:lstStyle xmlns:a="http://schemas.openxmlformats.org/drawingml/2006/main">
            <a:def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rPr>
              <a:t>Each stage leaves a checkpoint. The workflow can be resumed and reviewed without reconstructing the reasoning from memory.</a:t>
            </a:r>
          </a:p>
        </p:txBody>
      </p:sp>
      <p:sp>
        <p:nvSpPr>
          <p:cNvPr id="3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C644610-2AC4-49BF-9F42-3A368312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1961"/>
              </a:srgbClr>
            </a:solidFill>
            <a:prstDash val="solid"/>
          </a:ln>
        </p:spPr>
      </p:sp>
      <p:sp>
        <p:nvSpPr>
          <p:cNvPr id="38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2AC99D2F-4A56-46D5-88EE-9DA9749E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39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6CEB02A-743A-4C89-A914-CBFB838B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rPr>
              <a:t>04 / 08</a:t>
            </a:r>
          </a:p>
        </p:txBody>
      </p:sp>
    </p:spTree>
    <p:extLst>
      <p:ext uri="{BB962C8B-B14F-4D97-AF65-F5344CB8AC3E}">
        <p14:creationId xmlns:p14="http://schemas.microsoft.com/office/powerpoint/2010/main" val="12698556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2FCC77-0618-440E-B383-5F278715D7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a5d6caf844bc4"/>
          <a:stretch xmlns:a="http://schemas.openxmlformats.org/drawingml/2006/main"/>
        </p:blipFill>
        <p:spPr>
          <a:xfrm xmlns:a="http://schemas.openxmlformats.org/drawingml/2006/main">
            <a:off x="590550" y="4572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" name="brand-lockup">
            <a:extLst xmlns:a="http://schemas.openxmlformats.org/drawingml/2006/main">
              <a:ext uri="{FF2B5EF4-FFF2-40B4-BE49-F238E27FC236}">
                <a16:creationId xmlns:a16="http://schemas.microsoft.com/office/drawing/2014/main" id="{58650A2E-6F19-4FBF-9FD6-B361C7CB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1"/>
          </a:bodyPr>
          <a:lstStyle xmlns:a="http://schemas.openxmlformats.org/drawingml/2006/main">
            <a:def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3" name="brand-subtitle">
            <a:extLst xmlns:a="http://schemas.openxmlformats.org/drawingml/2006/main">
              <a:ext uri="{FF2B5EF4-FFF2-40B4-BE49-F238E27FC236}">
                <a16:creationId xmlns:a16="http://schemas.microsoft.com/office/drawing/2014/main" id="{B120853F-7EE9-42CE-99DE-43606E43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3900"/>
            <a:ext cx="3143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4" name="label-The decision rule">
            <a:extLst xmlns:a="http://schemas.openxmlformats.org/drawingml/2006/main">
              <a:ext uri="{FF2B5EF4-FFF2-40B4-BE49-F238E27FC236}">
                <a16:creationId xmlns:a16="http://schemas.microsoft.com/office/drawing/2014/main" id="{CE617D22-BD5C-4FEA-9061-AF541FA4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THE DECISION RULE</a:t>
            </a:r>
          </a:p>
        </p:txBody>
      </p:sp>
      <p:sp>
        <p:nvSpPr>
          <p:cNvPr id="5" name="gate-title">
            <a:extLst xmlns:a="http://schemas.openxmlformats.org/drawingml/2006/main">
              <a:ext uri="{FF2B5EF4-FFF2-40B4-BE49-F238E27FC236}">
                <a16:creationId xmlns:a16="http://schemas.microsoft.com/office/drawing/2014/main" id="{3A78439C-AAA9-4634-AA17-5741BAF2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8610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715"/>
          </a:bodyPr>
          <a:lstStyle xmlns:a="http://schemas.openxmlformats.org/drawingml/2006/main">
            <a:def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Approve the plan only when the evidence supports it.</a:t>
            </a:r>
          </a:p>
        </p:txBody>
      </p:sp>
      <p:sp>
        <p:nvSpPr>
          <p:cNvPr id="6" name="gate-copy">
            <a:extLst xmlns:a="http://schemas.openxmlformats.org/drawingml/2006/main">
              <a:ext uri="{FF2B5EF4-FFF2-40B4-BE49-F238E27FC236}">
                <a16:creationId xmlns:a16="http://schemas.microsoft.com/office/drawing/2014/main" id="{028D4CA5-5F10-4C55-9169-A1614768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33725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The same pipeline has two legitimate outcomes. It either produces a reviewable plan or states the question that blocks a reliable plan.</a:t>
            </a:r>
          </a:p>
        </p:txBody>
      </p:sp>
      <p:sp>
        <p:nvSpPr>
          <p:cNvPr id="7" name="gate-diamond">
            <a:extLst xmlns:a="http://schemas.openxmlformats.org/drawingml/2006/main">
              <a:ext uri="{FF2B5EF4-FFF2-40B4-BE49-F238E27FC236}">
                <a16:creationId xmlns:a16="http://schemas.microsoft.com/office/drawing/2014/main" id="{B6DD0CAC-80FF-475B-8E00-65C4C90B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29125"/>
            <a:ext cx="1371600" cy="13716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gate-diamond-text">
            <a:extLst xmlns:a="http://schemas.openxmlformats.org/drawingml/2006/main">
              <a:ext uri="{FF2B5EF4-FFF2-40B4-BE49-F238E27FC236}">
                <a16:creationId xmlns:a16="http://schemas.microsoft.com/office/drawing/2014/main" id="{BCB8C1A4-789F-4637-A4F6-8F6115F0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48225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ctr"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CRITIC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GATE</a:t>
            </a:r>
          </a:p>
        </p:txBody>
      </p:sp>
      <p:sp>
        <p:nvSpPr>
          <p:cNvPr id="9" name="gate-left-line">
            <a:extLst xmlns:a="http://schemas.openxmlformats.org/drawingml/2006/main">
              <a:ext uri="{FF2B5EF4-FFF2-40B4-BE49-F238E27FC236}">
                <a16:creationId xmlns:a16="http://schemas.microsoft.com/office/drawing/2014/main" id="{8653E770-0C45-478D-93C7-17025E38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114925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F8B8D"/>
            </a:solidFill>
            <a:prstDash val="solid"/>
          </a:ln>
        </p:spPr>
      </p:sp>
      <p:sp>
        <p:nvSpPr>
          <p:cNvPr id="10" name="gate-right-line">
            <a:extLst xmlns:a="http://schemas.openxmlformats.org/drawingml/2006/main">
              <a:ext uri="{FF2B5EF4-FFF2-40B4-BE49-F238E27FC236}">
                <a16:creationId xmlns:a16="http://schemas.microsoft.com/office/drawing/2014/main" id="{1F795430-A8B0-4C7E-BB9C-1056DBA6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114925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89B3C"/>
            </a:solidFill>
            <a:prstDash val="solid"/>
          </a:ln>
        </p:spPr>
      </p:sp>
      <p:sp>
        <p:nvSpPr>
          <p:cNvPr id="11" name="gate-approved">
            <a:extLst xmlns:a="http://schemas.openxmlformats.org/drawingml/2006/main">
              <a:ext uri="{FF2B5EF4-FFF2-40B4-BE49-F238E27FC236}">
                <a16:creationId xmlns:a16="http://schemas.microsoft.com/office/drawing/2014/main" id="{FE4292A9-AA52-4250-95F6-6066052C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37719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pproved-label">
            <a:extLst xmlns:a="http://schemas.openxmlformats.org/drawingml/2006/main">
              <a:ext uri="{FF2B5EF4-FFF2-40B4-BE49-F238E27FC236}">
                <a16:creationId xmlns:a16="http://schemas.microsoft.com/office/drawing/2014/main" id="{4F477585-DD99-44B6-9BB3-26CBABC0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667500"/>
            <a:ext cx="2714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WHEN THE PLAN IS SUPPORTED</a:t>
            </a:r>
          </a:p>
        </p:txBody>
      </p:sp>
      <p:sp>
        <p:nvSpPr>
          <p:cNvPr id="13" name="approved-title">
            <a:extLst xmlns:a="http://schemas.openxmlformats.org/drawingml/2006/main">
              <a:ext uri="{FF2B5EF4-FFF2-40B4-BE49-F238E27FC236}">
                <a16:creationId xmlns:a16="http://schemas.microsoft.com/office/drawing/2014/main" id="{41040F5D-D2C2-49A6-90EE-61818295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0580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502"/>
          </a:bodyPr>
          <a:lstStyle xmlns:a="http://schemas.openxmlformats.org/drawingml/2006/main">
            <a:def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Approved</a:t>
            </a:r>
          </a:p>
        </p:txBody>
      </p:sp>
      <p:sp>
        <p:nvSpPr>
          <p:cNvPr id="14" name="approved-copy">
            <a:extLst xmlns:a="http://schemas.openxmlformats.org/drawingml/2006/main">
              <a:ext uri="{FF2B5EF4-FFF2-40B4-BE49-F238E27FC236}">
                <a16:creationId xmlns:a16="http://schemas.microsoft.com/office/drawing/2014/main" id="{4FA098C5-826D-46BE-A38E-77360ECB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629525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691"/>
          </a:bodyPr>
          <a:lstStyle xmlns:a="http://schemas.openxmlformats.org/drawingml/2006/main">
            <a:def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Export a spec, test-oriented cases, and status evidence for review.</a:t>
            </a:r>
          </a:p>
        </p:txBody>
      </p:sp>
      <p:sp>
        <p:nvSpPr>
          <p:cNvPr id="15" name="gate-needs-input">
            <a:extLst xmlns:a="http://schemas.openxmlformats.org/drawingml/2006/main">
              <a:ext uri="{FF2B5EF4-FFF2-40B4-BE49-F238E27FC236}">
                <a16:creationId xmlns:a16="http://schemas.microsoft.com/office/drawing/2014/main" id="{3F35FEE8-5AA4-4241-ABE5-3AAC3F43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324600"/>
            <a:ext cx="436245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2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eeds-label">
            <a:extLst xmlns:a="http://schemas.openxmlformats.org/drawingml/2006/main">
              <a:ext uri="{FF2B5EF4-FFF2-40B4-BE49-F238E27FC236}">
                <a16:creationId xmlns:a16="http://schemas.microsoft.com/office/drawing/2014/main" id="{220BD8BD-BBBF-48A5-B7A7-B1EA9014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66675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WHEN A MATERIAL GAP REMAINS</a:t>
            </a:r>
          </a:p>
        </p:txBody>
      </p:sp>
      <p:sp>
        <p:nvSpPr>
          <p:cNvPr id="17" name="needs-title">
            <a:extLst xmlns:a="http://schemas.openxmlformats.org/drawingml/2006/main">
              <a:ext uri="{FF2B5EF4-FFF2-40B4-BE49-F238E27FC236}">
                <a16:creationId xmlns:a16="http://schemas.microsoft.com/office/drawing/2014/main" id="{B6FB95B9-8734-465C-A226-D8953C84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70580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502"/>
          </a:bodyPr>
          <a:lstStyle xmlns:a="http://schemas.openxmlformats.org/drawingml/2006/main">
            <a:def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Needs input</a:t>
            </a:r>
          </a:p>
        </p:txBody>
      </p:sp>
      <p:sp>
        <p:nvSpPr>
          <p:cNvPr id="18" name="needs-copy">
            <a:extLst xmlns:a="http://schemas.openxmlformats.org/drawingml/2006/main">
              <a:ext uri="{FF2B5EF4-FFF2-40B4-BE49-F238E27FC236}">
                <a16:creationId xmlns:a16="http://schemas.microsoft.com/office/drawing/2014/main" id="{F7FE606F-7D63-4A60-BCD7-37AC1E58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762952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691"/>
          </a:bodyPr>
          <a:lstStyle xmlns:a="http://schemas.openxmlformats.org/drawingml/2006/main">
            <a:def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Stop and name the missing scope, data source, or decision instead of inventing the answer.</a:t>
            </a:r>
          </a:p>
        </p:txBody>
      </p:sp>
      <p:sp>
        <p:nvSpPr>
          <p:cNvPr id="1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3657E7F-4596-48B1-B6C1-9C93D882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20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C14432C5-F453-4928-A9F5-5F1DE15A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21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C5ACBFA-6E24-4A1E-A067-2F502063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05 / 08</a:t>
            </a:r>
          </a:p>
        </p:txBody>
      </p:sp>
    </p:spTree>
    <p:extLst>
      <p:ext uri="{BB962C8B-B14F-4D97-AF65-F5344CB8AC3E}">
        <p14:creationId xmlns:p14="http://schemas.microsoft.com/office/powerpoint/2010/main" val="18827506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7A7D76-80AE-420F-AF2C-2B8D04A003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536d175e34831"/>
          <a:stretch xmlns:a="http://schemas.openxmlformats.org/drawingml/2006/main"/>
        </p:blipFill>
        <p:spPr>
          <a:xfrm xmlns:a="http://schemas.openxmlformats.org/drawingml/2006/main">
            <a:off x="590550" y="4572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" name="brand-lockup">
            <a:extLst xmlns:a="http://schemas.openxmlformats.org/drawingml/2006/main">
              <a:ext uri="{FF2B5EF4-FFF2-40B4-BE49-F238E27FC236}">
                <a16:creationId xmlns:a16="http://schemas.microsoft.com/office/drawing/2014/main" id="{E975A23A-5681-4456-BA3D-A0C9B52A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1"/>
          </a:bodyPr>
          <a:lstStyle xmlns:a="http://schemas.openxmlformats.org/drawingml/2006/main">
            <a:def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3" name="brand-subtitle">
            <a:extLst xmlns:a="http://schemas.openxmlformats.org/drawingml/2006/main">
              <a:ext uri="{FF2B5EF4-FFF2-40B4-BE49-F238E27FC236}">
                <a16:creationId xmlns:a16="http://schemas.microsoft.com/office/drawing/2014/main" id="{31D4990C-8842-4599-AAA1-BA4F8FDD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3900"/>
            <a:ext cx="3143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4" name="label-Reviewable outputs">
            <a:extLst xmlns:a="http://schemas.openxmlformats.org/drawingml/2006/main">
              <a:ext uri="{FF2B5EF4-FFF2-40B4-BE49-F238E27FC236}">
                <a16:creationId xmlns:a16="http://schemas.microsoft.com/office/drawing/2014/main" id="{9441C52C-97CD-430C-84FA-99A6A6FE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REVIEWABLE OUTPUTS</a:t>
            </a:r>
          </a:p>
        </p:txBody>
      </p:sp>
      <p:sp>
        <p:nvSpPr>
          <p:cNvPr id="5" name="outputs-title">
            <a:extLst xmlns:a="http://schemas.openxmlformats.org/drawingml/2006/main">
              <a:ext uri="{FF2B5EF4-FFF2-40B4-BE49-F238E27FC236}">
                <a16:creationId xmlns:a16="http://schemas.microsoft.com/office/drawing/2014/main" id="{F133F438-4AAB-42CD-845A-62DFC674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88"/>
          </a:bodyPr>
          <a:lstStyle xmlns:a="http://schemas.openxmlformats.org/drawingml/2006/main">
            <a:def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The result is a package people can inspect.</a:t>
            </a:r>
          </a:p>
        </p:txBody>
      </p:sp>
      <p:sp>
        <p:nvSpPr>
          <p:cNvPr id="6" name="outputs-copy">
            <a:extLst xmlns:a="http://schemas.openxmlformats.org/drawingml/2006/main">
              <a:ext uri="{FF2B5EF4-FFF2-40B4-BE49-F238E27FC236}">
                <a16:creationId xmlns:a16="http://schemas.microsoft.com/office/drawing/2014/main" id="{6B397D70-82E7-4195-B9B4-2EDEFC16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796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The goal is not a hidden recommendation. It is a practical handoff that connects planning decisions to the evidence behind them.</a:t>
            </a:r>
          </a:p>
        </p:txBody>
      </p:sp>
      <p:sp>
        <p:nvSpPr>
          <p:cNvPr id="7" name="output-band-01">
            <a:extLst xmlns:a="http://schemas.openxmlformats.org/drawingml/2006/main">
              <a:ext uri="{FF2B5EF4-FFF2-40B4-BE49-F238E27FC236}">
                <a16:creationId xmlns:a16="http://schemas.microsoft.com/office/drawing/2014/main" id="{534F4C09-8A91-4615-8AF3-D6B29DEC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4800"/>
            <a:ext cx="6419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8" name="output-accent-01">
            <a:extLst xmlns:a="http://schemas.openxmlformats.org/drawingml/2006/main">
              <a:ext uri="{FF2B5EF4-FFF2-40B4-BE49-F238E27FC236}">
                <a16:creationId xmlns:a16="http://schemas.microsoft.com/office/drawing/2014/main" id="{FFEADF83-A5CE-44D8-9167-FCD47020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4800"/>
            <a:ext cx="1333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utput-number-01">
            <a:extLst xmlns:a="http://schemas.openxmlformats.org/drawingml/2006/main">
              <a:ext uri="{FF2B5EF4-FFF2-40B4-BE49-F238E27FC236}">
                <a16:creationId xmlns:a16="http://schemas.microsoft.com/office/drawing/2014/main" id="{97CA9685-A4AD-41EC-9B56-1378A3A2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100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3157D5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10" name="output-title-01">
            <a:extLst xmlns:a="http://schemas.openxmlformats.org/drawingml/2006/main">
              <a:ext uri="{FF2B5EF4-FFF2-40B4-BE49-F238E27FC236}">
                <a16:creationId xmlns:a16="http://schemas.microsoft.com/office/drawing/2014/main" id="{19435A27-BF0A-4AAA-9FEC-9C5B2683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434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Feature specification</a:t>
            </a:r>
          </a:p>
        </p:txBody>
      </p:sp>
      <p:sp>
        <p:nvSpPr>
          <p:cNvPr id="11" name="output-body-01">
            <a:extLst xmlns:a="http://schemas.openxmlformats.org/drawingml/2006/main">
              <a:ext uri="{FF2B5EF4-FFF2-40B4-BE49-F238E27FC236}">
                <a16:creationId xmlns:a16="http://schemas.microsoft.com/office/drawing/2014/main" id="{8181B293-FC34-405B-A24B-70765C61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790"/>
          </a:bodyPr>
          <a:lstStyle xmlns:a="http://schemas.openxmlformats.org/drawingml/2006/main">
            <a:def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A clear request interpretation, requirements, acceptance criteria, and test intent.</a:t>
            </a:r>
          </a:p>
        </p:txBody>
      </p:sp>
      <p:sp>
        <p:nvSpPr>
          <p:cNvPr id="12" name="output-band-02">
            <a:extLst xmlns:a="http://schemas.openxmlformats.org/drawingml/2006/main">
              <a:ext uri="{FF2B5EF4-FFF2-40B4-BE49-F238E27FC236}">
                <a16:creationId xmlns:a16="http://schemas.microsoft.com/office/drawing/2014/main" id="{C0351EF6-8F1E-4667-BF21-4F8B7BE4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57850"/>
            <a:ext cx="6419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13" name="output-accent-02">
            <a:extLst xmlns:a="http://schemas.openxmlformats.org/drawingml/2006/main">
              <a:ext uri="{FF2B5EF4-FFF2-40B4-BE49-F238E27FC236}">
                <a16:creationId xmlns:a16="http://schemas.microsoft.com/office/drawing/2014/main" id="{9FC0E81E-6D41-4C96-B930-E2CD2573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57850"/>
            <a:ext cx="1333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utput-number-02">
            <a:extLst xmlns:a="http://schemas.openxmlformats.org/drawingml/2006/main">
              <a:ext uri="{FF2B5EF4-FFF2-40B4-BE49-F238E27FC236}">
                <a16:creationId xmlns:a16="http://schemas.microsoft.com/office/drawing/2014/main" id="{B815B73F-7F53-423B-8FE7-77AFDDA0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9531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5" name="output-title-02">
            <a:extLst xmlns:a="http://schemas.openxmlformats.org/drawingml/2006/main">
              <a:ext uri="{FF2B5EF4-FFF2-40B4-BE49-F238E27FC236}">
                <a16:creationId xmlns:a16="http://schemas.microsoft.com/office/drawing/2014/main" id="{9705CDAD-F5EB-4E4A-8F5E-F1FFA1C9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8864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Stakeholder case study</a:t>
            </a:r>
          </a:p>
        </p:txBody>
      </p:sp>
      <p:sp>
        <p:nvSpPr>
          <p:cNvPr id="16" name="output-body-02">
            <a:extLst xmlns:a="http://schemas.openxmlformats.org/drawingml/2006/main">
              <a:ext uri="{FF2B5EF4-FFF2-40B4-BE49-F238E27FC236}">
                <a16:creationId xmlns:a16="http://schemas.microsoft.com/office/drawing/2014/main" id="{CA0D6C06-C18B-4B1C-B814-E3DF8C9F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0555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A readable explanation of the motivation, scope, outcome, and evidence.</a:t>
            </a:r>
          </a:p>
        </p:txBody>
      </p:sp>
      <p:sp>
        <p:nvSpPr>
          <p:cNvPr id="17" name="output-band-03">
            <a:extLst xmlns:a="http://schemas.openxmlformats.org/drawingml/2006/main">
              <a:ext uri="{FF2B5EF4-FFF2-40B4-BE49-F238E27FC236}">
                <a16:creationId xmlns:a16="http://schemas.microsoft.com/office/drawing/2014/main" id="{2983F185-5D0C-463B-B83A-308A069D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00900"/>
            <a:ext cx="6419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18" name="output-accent-03">
            <a:extLst xmlns:a="http://schemas.openxmlformats.org/drawingml/2006/main">
              <a:ext uri="{FF2B5EF4-FFF2-40B4-BE49-F238E27FC236}">
                <a16:creationId xmlns:a16="http://schemas.microsoft.com/office/drawing/2014/main" id="{4751A8AC-558B-43D3-9934-C862069C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00900"/>
            <a:ext cx="1333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output-number-03">
            <a:extLst xmlns:a="http://schemas.openxmlformats.org/drawingml/2006/main">
              <a:ext uri="{FF2B5EF4-FFF2-40B4-BE49-F238E27FC236}">
                <a16:creationId xmlns:a16="http://schemas.microsoft.com/office/drawing/2014/main" id="{FDF4B5DD-901F-4BFC-852E-525F11CC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4961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20" name="output-title-03">
            <a:extLst xmlns:a="http://schemas.openxmlformats.org/drawingml/2006/main">
              <a:ext uri="{FF2B5EF4-FFF2-40B4-BE49-F238E27FC236}">
                <a16:creationId xmlns:a16="http://schemas.microsoft.com/office/drawing/2014/main" id="{2A567758-A21E-444F-8465-C2888BD7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29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Traceability bundle</a:t>
            </a:r>
          </a:p>
        </p:txBody>
      </p:sp>
      <p:sp>
        <p:nvSpPr>
          <p:cNvPr id="21" name="output-body-03">
            <a:extLst xmlns:a="http://schemas.openxmlformats.org/drawingml/2006/main">
              <a:ext uri="{FF2B5EF4-FFF2-40B4-BE49-F238E27FC236}">
                <a16:creationId xmlns:a16="http://schemas.microsoft.com/office/drawing/2014/main" id="{98AF7912-94F7-4642-9826-1EA542BD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84860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290"/>
          </a:bodyPr>
          <a:lstStyle xmlns:a="http://schemas.openxmlformats.org/drawingml/2006/main">
            <a:def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Status JSON, checkpoints, telemetry, cost controls, and security audit evidence.</a:t>
            </a:r>
          </a:p>
        </p:txBody>
      </p:sp>
      <p:sp>
        <p:nvSpPr>
          <p:cNvPr id="22" name="outputs-statement">
            <a:extLst xmlns:a="http://schemas.openxmlformats.org/drawingml/2006/main">
              <a:ext uri="{FF2B5EF4-FFF2-40B4-BE49-F238E27FC236}">
                <a16:creationId xmlns:a16="http://schemas.microsoft.com/office/drawing/2014/main" id="{FD71CC70-02A0-4E13-BAB5-8C0893DC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14800"/>
            <a:ext cx="22860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outputs-statement-label">
            <a:extLst xmlns:a="http://schemas.openxmlformats.org/drawingml/2006/main">
              <a:ext uri="{FF2B5EF4-FFF2-40B4-BE49-F238E27FC236}">
                <a16:creationId xmlns:a16="http://schemas.microsoft.com/office/drawing/2014/main" id="{7E6AF403-ACAE-42EC-AFF1-D71DB951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05325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THE PRACTICAL BENEFIT</a:t>
            </a:r>
          </a:p>
        </p:txBody>
      </p:sp>
      <p:sp>
        <p:nvSpPr>
          <p:cNvPr id="24" name="outputs-statement-copy">
            <a:extLst xmlns:a="http://schemas.openxmlformats.org/drawingml/2006/main">
              <a:ext uri="{FF2B5EF4-FFF2-40B4-BE49-F238E27FC236}">
                <a16:creationId xmlns:a16="http://schemas.microsoft.com/office/drawing/2014/main" id="{0E9F5D9A-B45E-43DB-8A5D-4BA9F3C2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0175"/>
            <a:ext cx="152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5017"/>
          </a:bodyPr>
          <a:lstStyle xmlns:a="http://schemas.openxmlformats.org/drawingml/2006/main">
            <a:def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 reviewer can see what the agent concluded, why it concluded it, and what still needs a human decision.</a:t>
            </a:r>
          </a:p>
        </p:txBody>
      </p:sp>
      <p:sp>
        <p:nvSpPr>
          <p:cNvPr id="25" name="outputs-statement-note">
            <a:extLst xmlns:a="http://schemas.openxmlformats.org/drawingml/2006/main">
              <a:ext uri="{FF2B5EF4-FFF2-40B4-BE49-F238E27FC236}">
                <a16:creationId xmlns:a16="http://schemas.microsoft.com/office/drawing/2014/main" id="{FA4E4DA1-F88E-4CBF-82A3-713D09B3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610475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1050" b="0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rPr>
              <a:t>Visible artifacts keep the claim inspectable.</a:t>
            </a:r>
          </a:p>
        </p:txBody>
      </p:sp>
      <p:sp>
        <p:nvSpPr>
          <p:cNvPr id="2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ACC0-2E54-4790-84CC-3B71D079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2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092FF777-91E5-45D6-B50E-7D448330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2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CF2A1E3-B67A-4BF6-905A-1EA46145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06 / 08</a:t>
            </a:r>
          </a:p>
        </p:txBody>
      </p:sp>
    </p:spTree>
    <p:extLst>
      <p:ext uri="{BB962C8B-B14F-4D97-AF65-F5344CB8AC3E}">
        <p14:creationId xmlns:p14="http://schemas.microsoft.com/office/powerpoint/2010/main" val="14492848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E0C3DB-6DD8-47CF-87A9-18066FD536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6124c5f7b4dc7"/>
          <a:stretch xmlns:a="http://schemas.openxmlformats.org/drawingml/2006/main"/>
        </p:blipFill>
        <p:spPr>
          <a:xfrm xmlns:a="http://schemas.openxmlformats.org/drawingml/2006/main">
            <a:off x="590550" y="4572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" name="brand-lockup">
            <a:extLst xmlns:a="http://schemas.openxmlformats.org/drawingml/2006/main">
              <a:ext uri="{FF2B5EF4-FFF2-40B4-BE49-F238E27FC236}">
                <a16:creationId xmlns:a16="http://schemas.microsoft.com/office/drawing/2014/main" id="{40FBD3FB-D1C6-45B2-9280-9C703303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1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3" name="brand-subtitle">
            <a:extLst xmlns:a="http://schemas.openxmlformats.org/drawingml/2006/main">
              <a:ext uri="{FF2B5EF4-FFF2-40B4-BE49-F238E27FC236}">
                <a16:creationId xmlns:a16="http://schemas.microsoft.com/office/drawing/2014/main" id="{02CB05CD-C844-41D7-A621-35025515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3900"/>
            <a:ext cx="3143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6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4" name="label-Validation">
            <a:extLst xmlns:a="http://schemas.openxmlformats.org/drawingml/2006/main">
              <a:ext uri="{FF2B5EF4-FFF2-40B4-BE49-F238E27FC236}">
                <a16:creationId xmlns:a16="http://schemas.microsoft.com/office/drawing/2014/main" id="{09FC0129-BE35-4F8E-9134-BBC773C3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VALIDATION</a:t>
            </a:r>
          </a:p>
        </p:txBody>
      </p:sp>
      <p:sp>
        <p:nvSpPr>
          <p:cNvPr id="5" name="validation-title">
            <a:extLst xmlns:a="http://schemas.openxmlformats.org/drawingml/2006/main">
              <a:ext uri="{FF2B5EF4-FFF2-40B4-BE49-F238E27FC236}">
                <a16:creationId xmlns:a16="http://schemas.microsoft.com/office/drawing/2014/main" id="{8916158C-EFCC-42C5-815B-F7F1CF3B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800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35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Two outcomes. Both are evidence.</a:t>
            </a:r>
          </a:p>
        </p:txBody>
      </p:sp>
      <p:sp>
        <p:nvSpPr>
          <p:cNvPr id="6" name="validation-copy">
            <a:extLst xmlns:a="http://schemas.openxmlformats.org/drawingml/2006/main">
              <a:ext uri="{FF2B5EF4-FFF2-40B4-BE49-F238E27FC236}">
                <a16:creationId xmlns:a16="http://schemas.microsoft.com/office/drawing/2014/main" id="{A499F64F-91DD-4741-A124-169E4D27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8153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D6E0EC"/>
                </a:solidFill>
                <a:latin typeface="Noto Sans"/>
                <a:ea typeface="Noto Sans"/>
                <a:cs typeface="Noto Sans"/>
              </a:rPr>
              <a:t>The project was tested with a real read-only repository case and a credential-free ambiguity case. The point is to prove both progress and restraint.</a:t>
            </a:r>
          </a:p>
        </p:txBody>
      </p:sp>
      <p:sp>
        <p:nvSpPr>
          <p:cNvPr id="7" name="validation-approved-panel">
            <a:extLst xmlns:a="http://schemas.openxmlformats.org/drawingml/2006/main">
              <a:ext uri="{FF2B5EF4-FFF2-40B4-BE49-F238E27FC236}">
                <a16:creationId xmlns:a16="http://schemas.microsoft.com/office/drawing/2014/main" id="{6933AC2C-1E71-4324-B4C4-9F4148F5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57650"/>
            <a:ext cx="42481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validation-approved-label">
            <a:extLst xmlns:a="http://schemas.openxmlformats.org/drawingml/2006/main">
              <a:ext uri="{FF2B5EF4-FFF2-40B4-BE49-F238E27FC236}">
                <a16:creationId xmlns:a16="http://schemas.microsoft.com/office/drawing/2014/main" id="{FDDC196A-9E52-4F20-85F8-07B806D6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291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APPROVED PATH</a:t>
            </a:r>
          </a:p>
        </p:txBody>
      </p:sp>
      <p:sp>
        <p:nvSpPr>
          <p:cNvPr id="9" name="validation-approved-title">
            <a:extLst xmlns:a="http://schemas.openxmlformats.org/drawingml/2006/main">
              <a:ext uri="{FF2B5EF4-FFF2-40B4-BE49-F238E27FC236}">
                <a16:creationId xmlns:a16="http://schemas.microsoft.com/office/drawing/2014/main" id="{6278502F-1C89-4369-A501-A7957BBC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768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750"/>
          </a:bodyPr>
          <a:lstStyle xmlns:a="http://schemas.openxmlformats.org/drawingml/2006/main">
            <a:def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Health-check request</a:t>
            </a:r>
          </a:p>
        </p:txBody>
      </p:sp>
      <p:sp>
        <p:nvSpPr>
          <p:cNvPr id="10" name="validation-approved-status">
            <a:extLst xmlns:a="http://schemas.openxmlformats.org/drawingml/2006/main">
              <a:ext uri="{FF2B5EF4-FFF2-40B4-BE49-F238E27FC236}">
                <a16:creationId xmlns:a16="http://schemas.microsoft.com/office/drawing/2014/main" id="{E7E441DF-CDD7-46DD-92A8-5C83A54F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483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approved · exit code 0</a:t>
            </a:r>
          </a:p>
        </p:txBody>
      </p:sp>
      <p:sp>
        <p:nvSpPr>
          <p:cNvPr id="11" name="validation-approved-copy">
            <a:extLst xmlns:a="http://schemas.openxmlformats.org/drawingml/2006/main">
              <a:ext uri="{FF2B5EF4-FFF2-40B4-BE49-F238E27FC236}">
                <a16:creationId xmlns:a16="http://schemas.microsoft.com/office/drawing/2014/main" id="{79A893CD-15B4-4223-A35E-63A17542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315075"/>
            <a:ext cx="314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3000"/>
              </a:lnSpc>
              <a:buNone/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Read-only repository context was retrieved and a complete feature plan with exports was generated.</a:t>
            </a:r>
          </a:p>
        </p:txBody>
      </p:sp>
      <p:sp>
        <p:nvSpPr>
          <p:cNvPr id="12" name="validation-needs-panel">
            <a:extLst xmlns:a="http://schemas.openxmlformats.org/drawingml/2006/main">
              <a:ext uri="{FF2B5EF4-FFF2-40B4-BE49-F238E27FC236}">
                <a16:creationId xmlns:a16="http://schemas.microsoft.com/office/drawing/2014/main" id="{C61D84A9-6668-42D6-A66D-BED11420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057650"/>
            <a:ext cx="42481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2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alidation-needs-label">
            <a:extLst xmlns:a="http://schemas.openxmlformats.org/drawingml/2006/main">
              <a:ext uri="{FF2B5EF4-FFF2-40B4-BE49-F238E27FC236}">
                <a16:creationId xmlns:a16="http://schemas.microsoft.com/office/drawing/2014/main" id="{56924260-B209-4A23-BB05-5316A014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291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SAFETY-GATED PATH</a:t>
            </a:r>
          </a:p>
        </p:txBody>
      </p:sp>
      <p:sp>
        <p:nvSpPr>
          <p:cNvPr id="14" name="validation-needs-title">
            <a:extLst xmlns:a="http://schemas.openxmlformats.org/drawingml/2006/main">
              <a:ext uri="{FF2B5EF4-FFF2-40B4-BE49-F238E27FC236}">
                <a16:creationId xmlns:a16="http://schemas.microsoft.com/office/drawing/2014/main" id="{259C9300-1DAB-4582-8449-BA887D63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8768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Ambiguous request</a:t>
            </a:r>
          </a:p>
        </p:txBody>
      </p:sp>
      <p:sp>
        <p:nvSpPr>
          <p:cNvPr id="15" name="validation-needs-status">
            <a:extLst xmlns:a="http://schemas.openxmlformats.org/drawingml/2006/main">
              <a:ext uri="{FF2B5EF4-FFF2-40B4-BE49-F238E27FC236}">
                <a16:creationId xmlns:a16="http://schemas.microsoft.com/office/drawing/2014/main" id="{D8FC89BA-A5A7-4659-A1B0-B5AD1A3F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648325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needs input · exit code 2</a:t>
            </a:r>
          </a:p>
        </p:txBody>
      </p:sp>
      <p:sp>
        <p:nvSpPr>
          <p:cNvPr id="16" name="validation-needs-copy">
            <a:extLst xmlns:a="http://schemas.openxmlformats.org/drawingml/2006/main">
              <a:ext uri="{FF2B5EF4-FFF2-40B4-BE49-F238E27FC236}">
                <a16:creationId xmlns:a16="http://schemas.microsoft.com/office/drawing/2014/main" id="{9596C04D-6B09-4AC7-A71B-4D86B204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6315075"/>
            <a:ext cx="314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180"/>
          </a:bodyPr>
          <a:lstStyle xmlns:a="http://schemas.openxmlformats.org/drawingml/2006/main">
            <a:def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3000"/>
              </a:lnSpc>
              <a:buNone/>
              <a:def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The pipeline stopped and named missing search scope and data source instead of approving an unreliable plan.</a:t>
            </a:r>
          </a:p>
        </p:txBody>
      </p:sp>
      <p:sp>
        <p:nvSpPr>
          <p:cNvPr id="17" name="validation-checks">
            <a:extLst xmlns:a="http://schemas.openxmlformats.org/drawingml/2006/main">
              <a:ext uri="{FF2B5EF4-FFF2-40B4-BE49-F238E27FC236}">
                <a16:creationId xmlns:a16="http://schemas.microsoft.com/office/drawing/2014/main" id="{958F64D3-01D9-4EFA-9FAA-9DD7AFE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4010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FFFFFF">
                    <a:alpha val="72157"/>
                  </a:srgbClr>
                </a:solidFill>
                <a:latin typeface="Noto Sans"/>
                <a:ea typeface="Noto Sans"/>
                <a:cs typeface="Noto Sans"/>
              </a:rPr>
              <a:t>Release evidence: 83 tests · lint · type checks · HTML validation · secret audit</a:t>
            </a:r>
          </a:p>
        </p:txBody>
      </p:sp>
      <p:sp>
        <p:nvSpPr>
          <p:cNvPr id="1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08A2368-7573-4828-B511-C308876E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1961"/>
              </a:srgbClr>
            </a:solidFill>
            <a:prstDash val="solid"/>
          </a:ln>
        </p:spPr>
      </p:sp>
      <p:sp>
        <p:nvSpPr>
          <p:cNvPr id="19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138BB98C-609F-4788-AABC-E0180299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20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5AF5A63-2093-4531-83FA-2CEA7160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FFFFFF">
                    <a:alpha val="65882"/>
                  </a:srgbClr>
                </a:solidFill>
                <a:latin typeface="Noto Sans"/>
                <a:ea typeface="Noto Sans"/>
                <a:cs typeface="Noto Sans"/>
              </a:rPr>
              <a:t>07 / 08</a:t>
            </a:r>
          </a:p>
        </p:txBody>
      </p:sp>
    </p:spTree>
    <p:extLst>
      <p:ext uri="{BB962C8B-B14F-4D97-AF65-F5344CB8AC3E}">
        <p14:creationId xmlns:p14="http://schemas.microsoft.com/office/powerpoint/2010/main" val="5686082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EF7CB-B9AA-43C6-88B7-438B0B9FE4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76840f8444dd4"/>
          <a:stretch xmlns:a="http://schemas.openxmlformats.org/drawingml/2006/main"/>
        </p:blipFill>
        <p:spPr>
          <a:xfrm xmlns:a="http://schemas.openxmlformats.org/drawingml/2006/main">
            <a:off x="590550" y="4572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" name="brand-lockup">
            <a:extLst xmlns:a="http://schemas.openxmlformats.org/drawingml/2006/main">
              <a:ext uri="{FF2B5EF4-FFF2-40B4-BE49-F238E27FC236}">
                <a16:creationId xmlns:a16="http://schemas.microsoft.com/office/drawing/2014/main" id="{9319CCB6-3BC7-4F1E-85FE-6BC437E2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1"/>
          </a:bodyPr>
          <a:lstStyle xmlns:a="http://schemas.openxmlformats.org/drawingml/2006/main">
            <a:def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DEV JOURNEY</a:t>
            </a:r>
          </a:p>
        </p:txBody>
      </p:sp>
      <p:sp>
        <p:nvSpPr>
          <p:cNvPr id="3" name="brand-subtitle">
            <a:extLst xmlns:a="http://schemas.openxmlformats.org/drawingml/2006/main">
              <a:ext uri="{FF2B5EF4-FFF2-40B4-BE49-F238E27FC236}">
                <a16:creationId xmlns:a16="http://schemas.microsoft.com/office/drawing/2014/main" id="{56E20E17-0F26-4679-BDB7-AEBC2525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3900"/>
            <a:ext cx="3143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675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AGENT · FEATURE PLANNING COPILOT</a:t>
            </a:r>
          </a:p>
        </p:txBody>
      </p:sp>
      <p:sp>
        <p:nvSpPr>
          <p:cNvPr id="4" name="label-Scope">
            <a:extLst xmlns:a="http://schemas.openxmlformats.org/drawingml/2006/main">
              <a:ext uri="{FF2B5EF4-FFF2-40B4-BE49-F238E27FC236}">
                <a16:creationId xmlns:a16="http://schemas.microsoft.com/office/drawing/2014/main" id="{B214F470-3BF2-4C91-9120-CC4CCF2B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0F8B8D"/>
                </a:solidFill>
                <a:latin typeface="Noto Sans"/>
                <a:ea typeface="Noto Sans"/>
                <a:cs typeface="Noto Sans"/>
              </a:rPr>
              <a:t>SCOPE</a:t>
            </a:r>
          </a:p>
        </p:txBody>
      </p:sp>
      <p:sp>
        <p:nvSpPr>
          <p:cNvPr id="5" name="scope-title">
            <a:extLst xmlns:a="http://schemas.openxmlformats.org/drawingml/2006/main">
              <a:ext uri="{FF2B5EF4-FFF2-40B4-BE49-F238E27FC236}">
                <a16:creationId xmlns:a16="http://schemas.microsoft.com/office/drawing/2014/main" id="{06BFDF12-537D-41BF-B0F6-295D8CF6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838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81"/>
          </a:bodyPr>
          <a:lstStyle xmlns:a="http://schemas.openxmlformats.org/drawingml/2006/main">
            <a:def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33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A smaller promise is a more credible one.</a:t>
            </a:r>
          </a:p>
        </p:txBody>
      </p:sp>
      <p:sp>
        <p:nvSpPr>
          <p:cNvPr id="6" name="scope-copy">
            <a:extLst xmlns:a="http://schemas.openxmlformats.org/drawingml/2006/main">
              <a:ext uri="{FF2B5EF4-FFF2-40B4-BE49-F238E27FC236}">
                <a16:creationId xmlns:a16="http://schemas.microsoft.com/office/drawing/2014/main" id="{C569B53C-0CA5-41A6-BB85-48BCB94B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475569"/>
                </a:solidFill>
                <a:latin typeface="Noto Sans"/>
                <a:ea typeface="Noto Sans"/>
                <a:cs typeface="Noto Sans"/>
              </a:rPr>
              <a:t>The portfolio project remains intentionally focused. Its value is planning clarity and inspectable evidence, not autonomous source-code changes or deployments.</a:t>
            </a:r>
          </a:p>
        </p:txBody>
      </p:sp>
      <p:sp>
        <p:nvSpPr>
          <p:cNvPr id="7" name="scope-core">
            <a:extLst xmlns:a="http://schemas.openxmlformats.org/drawingml/2006/main">
              <a:ext uri="{FF2B5EF4-FFF2-40B4-BE49-F238E27FC236}">
                <a16:creationId xmlns:a16="http://schemas.microsoft.com/office/drawing/2014/main" id="{6754DA2A-D5B7-42E1-AE96-D4FB3ADE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28625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cope-core-label">
            <a:extLst xmlns:a="http://schemas.openxmlformats.org/drawingml/2006/main">
              <a:ext uri="{FF2B5EF4-FFF2-40B4-BE49-F238E27FC236}">
                <a16:creationId xmlns:a16="http://schemas.microsoft.com/office/drawing/2014/main" id="{9899A7CF-7E0E-4FF2-B55D-DD817A41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6722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C89B3C"/>
                </a:solidFill>
                <a:latin typeface="Noto Sans"/>
                <a:ea typeface="Noto Sans"/>
                <a:cs typeface="Noto Sans"/>
              </a:rPr>
              <a:t>IMPLEMENTED CORE</a:t>
            </a:r>
          </a:p>
        </p:txBody>
      </p:sp>
      <p:sp>
        <p:nvSpPr>
          <p:cNvPr id="9" name="scope-core-copy">
            <a:extLst xmlns:a="http://schemas.openxmlformats.org/drawingml/2006/main">
              <a:ext uri="{FF2B5EF4-FFF2-40B4-BE49-F238E27FC236}">
                <a16:creationId xmlns:a16="http://schemas.microsoft.com/office/drawing/2014/main" id="{5FEF70C4-93B0-4C78-8266-22889EEA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3333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38"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CLI planning pipeline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Manual GitHub Action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Provider-neutral local wrapper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Inspectable output and evidence</a:t>
            </a:r>
          </a:p>
        </p:txBody>
      </p:sp>
      <p:sp>
        <p:nvSpPr>
          <p:cNvPr id="10" name="scope-deferred">
            <a:extLst xmlns:a="http://schemas.openxmlformats.org/drawingml/2006/main">
              <a:ext uri="{FF2B5EF4-FFF2-40B4-BE49-F238E27FC236}">
                <a16:creationId xmlns:a16="http://schemas.microsoft.com/office/drawing/2014/main" id="{0B43798E-DB81-4A8E-B12F-FA3F5DCA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76700"/>
            <a:ext cx="428625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11" name="scope-deferred-label">
            <a:extLst xmlns:a="http://schemas.openxmlformats.org/drawingml/2006/main">
              <a:ext uri="{FF2B5EF4-FFF2-40B4-BE49-F238E27FC236}">
                <a16:creationId xmlns:a16="http://schemas.microsoft.com/office/drawing/2014/main" id="{71AA12FC-0E4B-4FF3-A368-61C79BF2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467225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3157D5"/>
                </a:solidFill>
                <a:latin typeface="Noto Sans"/>
                <a:ea typeface="Noto Sans"/>
                <a:cs typeface="Noto Sans"/>
              </a:rPr>
              <a:t>DELIBERATELY DEFERRED</a:t>
            </a:r>
          </a:p>
        </p:txBody>
      </p:sp>
      <p:sp>
        <p:nvSpPr>
          <p:cNvPr id="12" name="scope-deferred-copy">
            <a:extLst xmlns:a="http://schemas.openxmlformats.org/drawingml/2006/main">
              <a:ext uri="{FF2B5EF4-FFF2-40B4-BE49-F238E27FC236}">
                <a16:creationId xmlns:a16="http://schemas.microsoft.com/office/drawing/2014/main" id="{C1BF7155-A7E3-496F-AF16-54AD11CA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991100"/>
            <a:ext cx="3333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5920"/>
          </a:bodyPr>
          <a:lstStyle xmlns:a="http://schemas.openxmlformats.org/drawingml/2006/main">
            <a:def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Hosted service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Provider-specific chat adapters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Automatic issue and pull-request changes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Deployments</a:t>
            </a:r>
          </a:p>
        </p:txBody>
      </p:sp>
      <p:sp>
        <p:nvSpPr>
          <p:cNvPr id="13" name="scope-end-rule">
            <a:extLst xmlns:a="http://schemas.openxmlformats.org/drawingml/2006/main">
              <a:ext uri="{FF2B5EF4-FFF2-40B4-BE49-F238E27FC236}">
                <a16:creationId xmlns:a16="http://schemas.microsoft.com/office/drawing/2014/main" id="{9F2E4892-14F9-430E-BB09-604CDD44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439025"/>
            <a:ext cx="95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cope-takeaway">
            <a:extLst xmlns:a="http://schemas.openxmlformats.org/drawingml/2006/main">
              <a:ext uri="{FF2B5EF4-FFF2-40B4-BE49-F238E27FC236}">
                <a16:creationId xmlns:a16="http://schemas.microsoft.com/office/drawing/2014/main" id="{7EAF7EB5-6624-43D5-96AD-4A57AF00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7467600"/>
            <a:ext cx="7381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67"/>
          </a:bodyPr>
          <a:lstStyle xmlns:a="http://schemas.openxmlformats.org/drawingml/2006/main">
            <a:def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0B1220"/>
                </a:solidFill>
                <a:latin typeface="Noto Sans"/>
                <a:ea typeface="Noto Sans"/>
                <a:cs typeface="Noto Sans"/>
              </a:rPr>
              <a:t>The deliverable is simple to evaluate: turn an early request into a reviewable plan, or state the question that prevents one.</a:t>
            </a:r>
          </a:p>
        </p:txBody>
      </p:sp>
      <p:sp>
        <p:nvSpPr>
          <p:cNvPr id="15" name="scope-url">
            <a:extLst xmlns:a="http://schemas.openxmlformats.org/drawingml/2006/main">
              <a:ext uri="{FF2B5EF4-FFF2-40B4-BE49-F238E27FC236}">
                <a16:creationId xmlns:a16="http://schemas.microsoft.com/office/drawing/2014/main" id="{F0CD50BB-0C7C-43C6-B5BD-F0BF2C0A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8686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3157D5"/>
                </a:solidFill>
                <a:latin typeface="Noto Sans"/>
                <a:ea typeface="Noto Sans"/>
                <a:cs typeface="Noto Sans"/>
              </a:rPr>
              <a:t>github.com/mario7gs/dev-journey-agent</a:t>
            </a:r>
          </a:p>
        </p:txBody>
      </p:sp>
      <p:sp>
        <p:nvSpPr>
          <p:cNvPr id="1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A13B59A-6797-46DB-AF57-1CCDDDDB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620250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1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E9DEC0D4-A618-4AFC-A04E-22E9A51B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79170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l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PORTFOLIO CASE STUDY · 2026</a:t>
            </a:r>
          </a:p>
        </p:txBody>
      </p:sp>
      <p:sp>
        <p:nvSpPr>
          <p:cNvPr id="1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5B16B91-9E45-4030-96CA-6A3BE3B6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97917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defPPr>
            <a:lvl1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1pPr>
            <a:lvl2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2pPr>
            <a:lvl3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3pPr>
            <a:lvl4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4pPr>
            <a:lvl5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5pPr>
            <a:lvl6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6pPr>
            <a:lvl7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7pPr>
            <a:lvl8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8pPr>
            <a:lvl9pPr algn="r"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lvl9pPr>
          </a:lstStyle>
          <a:p xmlns:a="http://schemas.openxmlformats.org/drawingml/2006/main">
            <a:pPr algn="r">
              <a:lnSpc>
                <a:spcPct val="115000"/>
              </a:lnSpc>
              <a:buNone/>
              <a:def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defRPr>
            </a:pPr>
            <a:r>
              <a:rPr sz="750" b="1">
                <a:solidFill>
                  <a:srgbClr val="64748B"/>
                </a:solidFill>
                <a:latin typeface="Noto Sans"/>
                <a:ea typeface="Noto Sans"/>
                <a:cs typeface="Noto Sans"/>
              </a:rPr>
              <a:t>08 / 08</a:t>
            </a:r>
          </a:p>
        </p:txBody>
      </p:sp>
    </p:spTree>
    <p:extLst>
      <p:ext uri="{BB962C8B-B14F-4D97-AF65-F5344CB8AC3E}">
        <p14:creationId xmlns:p14="http://schemas.microsoft.com/office/powerpoint/2010/main" val="19443863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2026-10-24T14:20:00.7350000Z</dcterms:created>
  <dcterms:modified xsi:type="dcterms:W3CDTF">2026-10-24T14:20:00.7350000Z</dcterms:modified>
</coreProperties>
</file>